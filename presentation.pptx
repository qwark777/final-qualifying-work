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08"/>
    <p:restoredTop sz="94610"/>
  </p:normalViewPr>
  <p:slideViewPr>
    <p:cSldViewPr snapToGrid="0" snapToObjects="1">
      <p:cViewPr varScale="1">
        <p:scale>
          <a:sx n="127" d="100"/>
          <a:sy n="127" d="100"/>
        </p:scale>
        <p:origin x="18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0655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уважаемые коллеги. Представляю работу «Методы глубокого обучения и актуальные задачи биоинформатики». В работе исследуются вопросы применения нейросетевого подхода к задачам логического анализа и классификации больших данных. В качестве прикладной задачи рассматривается распознавание особых структурных сегментов геномов, называемых промотерами.</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работе рассматривается задача gene promoter prediction на данных модельного организма Drosophila melanogaster. Решается задача бинарной классификации: положительные примеры — участки промотеров, отрицательные примеры — участки экзонов. Для оценки качества классификации используется показатель ROC-AUC.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 конструировании логических классификаторов большое внимание уделяется синтезу корректных алгоритмов, то есть алгоритмов, не ошибающихся на обучающей выборке. Каждый признак имеет ограниченное множество допустимых значений, которые кодируются целыми числами. Обучение классификатора сводится к поиску информативных фрагментов описаний прецедентов — корректных элементарных классификаторов.</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Главным образом рассматриваются модели логических классификаторов, основанные на поиске представительных ЭК. Пусть H = {xⱼ₁, …, xⱼᵣ} — набор из r различных признаков, а σ = (σ₁, …, σᵣ), где σᵢ — допустимое значение признака xⱼᵢ. Пара (σ, H) задаёт конъюнкцию B(σ,H) = (xⱼ₁ = σ₁) ∧ … ∧ (xⱼᵣ = σᵣ). Представительный ЭК класса K — это допустимая конъюнкция (ДК) для не всюду определённой двузначной логической функции F_K. Интервал истинности допустимой конъюнкции имеет непустое пересечение с множеством единиц и пустое пересечение с множеством нулей.</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Логический подход связан с вычислительными ограничениями. Из-за требования корректности на этапе обучения возникают сложные в вычислительном плане дискретные задачи. Для многозначных признаков для повышения точности классификации применяется корректная перекодировка данных, что приводит к дополнительным вычислительным затратам. При тестировании классификатора REC из-за временных ограничений первоначальное число признаков было сокращено до 150 за счёт выделения наиболее информативных признаков.</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статье «Распознавание особых участков генома методами машинного обучения» сравнивались традиционный способ формирования признаков, использующий k-меры, и прямое применение классификатора к исходной выборке. Для REC ROC-AUC составляет 0,904 при k-мерах и 0,943 при прямом применении. Для Catboost значения равны соответственно 0,948 и 0,951. Наилучший результат в этой работе показал Catboost при прямом применении к исходной выборке.</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статье «Logical Data Analysis and Classification: Traditional and Neural Network Approaches» предложен подход, объединяющий методы логической классификации с возможностями нейросетевого анализа данных. Для каждого класса K строится отдельная сеть. Вход задаётся системой булевых уравнений, левые части которых представлены монотонными КНФ. На этапе обучения сеть решает задачу поиска максимальной совместной подсистемы уравнений. Архитектура включает логические блоки, аппроксимирующие дизъюнкцию, конъюнкцию и отрицание. В результате формируются максимальные логические закономерности класса K, используемые для классификации. На данных UCI было показано качество, сопоставимое с традиционными нейросетевыми подходами.</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настоящей работе задача gene promoter prediction решалась с применением нейронных сетей MLP и LAD_NN на тех же данных, что и в статье «Распознавание особых участков генома методами машинного обучения». Рассматривались две методики формирования признакового пространства. Способ 1 использует k-меры: k-мер — это подстрока длины k в символьной последовательности ДНК. Способ 2 заключается в прямом применении к исходной выборке. Для оценки качества классификации применялся показатель ROC-AUC.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способа 1, то есть для k-мер, базовая MLP показывает ROC-AUC 0,950, а после подбора гиперпараметров — 0,963. Для LAD_NN базовое значение равно 0,857, а после подбора гиперпараметров — 0,910. Таким образом, подбор гиперпараметров оказался важным как для MLP, так и для LAD_NN.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 использовании способа 2, то есть при прямом применении к исходной выборке, MLP с подбором гиперпараметров достигает ROC-AUC 0,970. Аналогичный показатель для LAD_NN равен 0,964. Наилучший результат в настоящей работе равен 0,970 и получен для MLP.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этом слайде собраны показатели качества классификаторов. Для способа 1 приведены базовые модели и модели с подбором гиперпараметров. Для способа 2 приведены результаты после подбора гиперпараметров. Наилучшее значение равно 0,970 для MLP, а LAD_NN при способе 2 достигает 0,964.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Таким образом, подтверждено, что методика формирования признакового пространства существенно влияет на качество классификации. Подбор гиперпараметров оказался важным как для MLP, так и для LAD_NN. Наилучший результат, равный 0,970, получен для MLP при способе 2. Аналогичный показатель для LAD_NN равен 0,964. Логико-нейронный подход показал качество, сопоставимое с MLP, что делает его перспективным направлением для дальнейших исследований в задачах биоинформатики. Благодарю за внимание.</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djukova@mail.r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qwark777@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566928"/>
            <a:ext cx="7315200" cy="987552"/>
          </a:xfrm>
          <a:prstGeom prst="rect">
            <a:avLst/>
          </a:prstGeom>
          <a:noFill/>
        </p:spPr>
        <p:txBody>
          <a:bodyPr wrap="none" lIns="0" tIns="0" rIns="0" bIns="0" anchor="ctr">
            <a:spAutoFit/>
          </a:bodyPr>
          <a:lstStyle/>
          <a:p>
            <a:pPr algn="ctr"/>
            <a:r>
              <a:rPr sz="2700" b="1" i="0" u="none">
                <a:solidFill>
                  <a:srgbClr val="000000"/>
                </a:solidFill>
                <a:latin typeface="Times New Roman"/>
              </a:rPr>
              <a:t>Методы глубокого обучения
и актуальные задачи биоинформатики</a:t>
            </a:r>
          </a:p>
        </p:txBody>
      </p:sp>
      <p:sp>
        <p:nvSpPr>
          <p:cNvPr id="3" name="TextBox 2"/>
          <p:cNvSpPr txBox="1"/>
          <p:nvPr/>
        </p:nvSpPr>
        <p:spPr>
          <a:xfrm>
            <a:off x="960120" y="2029968"/>
            <a:ext cx="4526280" cy="402336"/>
          </a:xfrm>
          <a:prstGeom prst="rect">
            <a:avLst/>
          </a:prstGeom>
          <a:noFill/>
        </p:spPr>
        <p:txBody>
          <a:bodyPr wrap="none" lIns="0" tIns="0" rIns="0" bIns="0" anchor="ctr">
            <a:spAutoFit/>
          </a:bodyPr>
          <a:lstStyle/>
          <a:p>
            <a:pPr algn="l"/>
            <a:r>
              <a:rPr sz="2050" b="1" i="1" u="none">
                <a:solidFill>
                  <a:srgbClr val="000000"/>
                </a:solidFill>
                <a:latin typeface="Times New Roman"/>
              </a:rPr>
              <a:t>Дюкова Елена Всеволодовна¹</a:t>
            </a:r>
          </a:p>
        </p:txBody>
      </p:sp>
      <p:sp>
        <p:nvSpPr>
          <p:cNvPr id="4" name="TextBox 3"/>
          <p:cNvSpPr txBox="1"/>
          <p:nvPr/>
        </p:nvSpPr>
        <p:spPr>
          <a:xfrm>
            <a:off x="6278677" y="2081095"/>
            <a:ext cx="1859483" cy="300082"/>
          </a:xfrm>
          <a:prstGeom prst="rect">
            <a:avLst/>
          </a:prstGeom>
          <a:noFill/>
        </p:spPr>
        <p:txBody>
          <a:bodyPr wrap="none" lIns="0" tIns="0" rIns="0" bIns="0" anchor="ctr">
            <a:spAutoFit/>
          </a:bodyPr>
          <a:lstStyle/>
          <a:p>
            <a:pPr algn="r"/>
            <a:r>
              <a:rPr sz="1950" b="0" i="0" u="sng" dirty="0">
                <a:latin typeface="Times New Roman"/>
                <a:hlinkClick r:id="rId3">
                  <a:extLst>
                    <a:ext uri="{A12FA001-AC4F-418D-AE19-62706E023703}">
                      <ahyp:hlinkClr xmlns:ahyp="http://schemas.microsoft.com/office/drawing/2018/hyperlinkcolor" val="tx"/>
                    </a:ext>
                  </a:extLst>
                </a:hlinkClick>
              </a:rPr>
              <a:t>edjukova@mail.ru</a:t>
            </a:r>
          </a:p>
        </p:txBody>
      </p:sp>
      <p:sp>
        <p:nvSpPr>
          <p:cNvPr id="5" name="TextBox 4"/>
          <p:cNvSpPr txBox="1"/>
          <p:nvPr/>
        </p:nvSpPr>
        <p:spPr>
          <a:xfrm>
            <a:off x="2423160" y="2450592"/>
            <a:ext cx="4297680" cy="329184"/>
          </a:xfrm>
          <a:prstGeom prst="rect">
            <a:avLst/>
          </a:prstGeom>
          <a:noFill/>
        </p:spPr>
        <p:txBody>
          <a:bodyPr wrap="none" lIns="0" tIns="0" rIns="0" bIns="0" anchor="ctr">
            <a:spAutoFit/>
          </a:bodyPr>
          <a:lstStyle/>
          <a:p>
            <a:pPr algn="ctr"/>
            <a:r>
              <a:rPr sz="1900" b="0" i="0" u="none" dirty="0">
                <a:solidFill>
                  <a:srgbClr val="000000"/>
                </a:solidFill>
                <a:latin typeface="Times New Roman"/>
              </a:rPr>
              <a:t>¹ </a:t>
            </a:r>
            <a:r>
              <a:rPr sz="1900" b="0" i="0" u="none" dirty="0" err="1">
                <a:solidFill>
                  <a:srgbClr val="000000"/>
                </a:solidFill>
                <a:latin typeface="Times New Roman"/>
              </a:rPr>
              <a:t>Москва</a:t>
            </a:r>
            <a:r>
              <a:rPr sz="1900" b="0" i="0" u="none" dirty="0">
                <a:solidFill>
                  <a:srgbClr val="000000"/>
                </a:solidFill>
                <a:latin typeface="Times New Roman"/>
              </a:rPr>
              <a:t>, ФИЦ ИУ РАН</a:t>
            </a:r>
          </a:p>
        </p:txBody>
      </p:sp>
      <p:sp>
        <p:nvSpPr>
          <p:cNvPr id="6" name="TextBox 5"/>
          <p:cNvSpPr txBox="1"/>
          <p:nvPr/>
        </p:nvSpPr>
        <p:spPr>
          <a:xfrm>
            <a:off x="960120" y="2862072"/>
            <a:ext cx="4526280" cy="402336"/>
          </a:xfrm>
          <a:prstGeom prst="rect">
            <a:avLst/>
          </a:prstGeom>
          <a:noFill/>
        </p:spPr>
        <p:txBody>
          <a:bodyPr wrap="none" lIns="0" tIns="0" rIns="0" bIns="0" anchor="ctr">
            <a:spAutoFit/>
          </a:bodyPr>
          <a:lstStyle/>
          <a:p>
            <a:pPr algn="l"/>
            <a:r>
              <a:rPr sz="2050" b="1" i="1" u="none">
                <a:solidFill>
                  <a:srgbClr val="000000"/>
                </a:solidFill>
                <a:latin typeface="Times New Roman"/>
              </a:rPr>
              <a:t>Пестов Иван Алексеевич²</a:t>
            </a:r>
          </a:p>
        </p:txBody>
      </p:sp>
      <p:sp>
        <p:nvSpPr>
          <p:cNvPr id="7" name="TextBox 6"/>
          <p:cNvSpPr txBox="1"/>
          <p:nvPr/>
        </p:nvSpPr>
        <p:spPr>
          <a:xfrm>
            <a:off x="5962886" y="2920893"/>
            <a:ext cx="2175274" cy="284693"/>
          </a:xfrm>
          <a:prstGeom prst="rect">
            <a:avLst/>
          </a:prstGeom>
          <a:noFill/>
        </p:spPr>
        <p:txBody>
          <a:bodyPr wrap="none" lIns="0" tIns="0" rIns="0" bIns="0" anchor="ctr">
            <a:spAutoFit/>
          </a:bodyPr>
          <a:lstStyle/>
          <a:p>
            <a:pPr algn="r"/>
            <a:r>
              <a:rPr sz="1850" b="0" i="0" u="sng" dirty="0">
                <a:latin typeface="Times New Roman"/>
                <a:hlinkClick r:id="rId4">
                  <a:extLst>
                    <a:ext uri="{A12FA001-AC4F-418D-AE19-62706E023703}">
                      <ahyp:hlinkClr xmlns:ahyp="http://schemas.microsoft.com/office/drawing/2018/hyperlinkcolor" val="tx"/>
                    </a:ext>
                  </a:extLst>
                </a:hlinkClick>
              </a:rPr>
              <a:t>qwark777@gmail.com</a:t>
            </a:r>
          </a:p>
        </p:txBody>
      </p:sp>
      <p:sp>
        <p:nvSpPr>
          <p:cNvPr id="8" name="TextBox 7"/>
          <p:cNvSpPr txBox="1"/>
          <p:nvPr/>
        </p:nvSpPr>
        <p:spPr>
          <a:xfrm>
            <a:off x="2148840" y="3273552"/>
            <a:ext cx="4846320" cy="329184"/>
          </a:xfrm>
          <a:prstGeom prst="rect">
            <a:avLst/>
          </a:prstGeom>
          <a:noFill/>
        </p:spPr>
        <p:txBody>
          <a:bodyPr wrap="none" lIns="0" tIns="0" rIns="0" bIns="0" anchor="ctr">
            <a:spAutoFit/>
          </a:bodyPr>
          <a:lstStyle/>
          <a:p>
            <a:pPr algn="ctr"/>
            <a:r>
              <a:rPr sz="1900" b="0" i="0" u="none" dirty="0">
                <a:solidFill>
                  <a:srgbClr val="000000"/>
                </a:solidFill>
                <a:latin typeface="Times New Roman"/>
              </a:rPr>
              <a:t>² МГУ </a:t>
            </a:r>
            <a:r>
              <a:rPr sz="1900" b="0" i="0" u="none" dirty="0" err="1">
                <a:solidFill>
                  <a:srgbClr val="000000"/>
                </a:solidFill>
                <a:latin typeface="Times New Roman"/>
              </a:rPr>
              <a:t>имени</a:t>
            </a:r>
            <a:r>
              <a:rPr sz="1900" b="0" i="0" u="none" dirty="0">
                <a:solidFill>
                  <a:srgbClr val="000000"/>
                </a:solidFill>
                <a:latin typeface="Times New Roman"/>
              </a:rPr>
              <a:t> </a:t>
            </a:r>
            <a:r>
              <a:rPr sz="1900" b="0" i="0" u="none" dirty="0" err="1">
                <a:solidFill>
                  <a:srgbClr val="000000"/>
                </a:solidFill>
                <a:latin typeface="Times New Roman"/>
              </a:rPr>
              <a:t>М</a:t>
            </a:r>
            <a:r>
              <a:rPr sz="1900" b="0" i="0" u="none" dirty="0">
                <a:solidFill>
                  <a:srgbClr val="000000"/>
                </a:solidFill>
                <a:latin typeface="Times New Roman"/>
              </a:rPr>
              <a:t>. </a:t>
            </a:r>
            <a:r>
              <a:rPr sz="1900" b="0" i="0" u="none" dirty="0" err="1">
                <a:solidFill>
                  <a:srgbClr val="000000"/>
                </a:solidFill>
                <a:latin typeface="Times New Roman"/>
              </a:rPr>
              <a:t>В</a:t>
            </a:r>
            <a:r>
              <a:rPr sz="1900" b="0" i="0" u="none" dirty="0">
                <a:solidFill>
                  <a:srgbClr val="000000"/>
                </a:solidFill>
                <a:latin typeface="Times New Roman"/>
              </a:rPr>
              <a:t>. </a:t>
            </a:r>
            <a:r>
              <a:rPr sz="1900" b="0" i="0" u="none" dirty="0" err="1">
                <a:solidFill>
                  <a:srgbClr val="000000"/>
                </a:solidFill>
                <a:latin typeface="Times New Roman"/>
              </a:rPr>
              <a:t>Ломоносова</a:t>
            </a:r>
            <a:endParaRPr sz="1900" b="0" i="0" u="none" dirty="0">
              <a:solidFill>
                <a:srgbClr val="000000"/>
              </a:solidFill>
              <a:latin typeface="Times New Roman"/>
            </a:endParaRPr>
          </a:p>
        </p:txBody>
      </p:sp>
      <p:sp>
        <p:nvSpPr>
          <p:cNvPr id="9" name="TextBox 8"/>
          <p:cNvSpPr txBox="1"/>
          <p:nvPr/>
        </p:nvSpPr>
        <p:spPr>
          <a:xfrm>
            <a:off x="822960" y="4251960"/>
            <a:ext cx="7498079" cy="713232"/>
          </a:xfrm>
          <a:prstGeom prst="rect">
            <a:avLst/>
          </a:prstGeom>
          <a:noFill/>
        </p:spPr>
        <p:txBody>
          <a:bodyPr wrap="none" lIns="0" tIns="0" rIns="0" bIns="0" anchor="ctr">
            <a:spAutoFit/>
          </a:bodyPr>
          <a:lstStyle/>
          <a:p>
            <a:pPr algn="ctr"/>
            <a:r>
              <a:rPr sz="2000" b="0" i="0" u="none" dirty="0">
                <a:solidFill>
                  <a:srgbClr val="000000"/>
                </a:solidFill>
                <a:latin typeface="Times New Roman"/>
              </a:rPr>
              <a:t>16-я </a:t>
            </a:r>
            <a:r>
              <a:rPr sz="2000" b="0" i="0" u="none" dirty="0" err="1">
                <a:solidFill>
                  <a:srgbClr val="000000"/>
                </a:solidFill>
                <a:latin typeface="Times New Roman"/>
              </a:rPr>
              <a:t>Международная</a:t>
            </a:r>
            <a:r>
              <a:rPr sz="2000" b="0" i="0" u="none" dirty="0">
                <a:solidFill>
                  <a:srgbClr val="000000"/>
                </a:solidFill>
                <a:latin typeface="Times New Roman"/>
              </a:rPr>
              <a:t> </a:t>
            </a:r>
            <a:r>
              <a:rPr sz="2000" b="0" i="0" u="none" dirty="0" err="1">
                <a:solidFill>
                  <a:srgbClr val="000000"/>
                </a:solidFill>
                <a:latin typeface="Times New Roman"/>
              </a:rPr>
              <a:t>конференция</a:t>
            </a:r>
            <a:r>
              <a:rPr sz="2000" b="0" i="0" u="none" dirty="0">
                <a:solidFill>
                  <a:srgbClr val="000000"/>
                </a:solidFill>
                <a:latin typeface="Times New Roman"/>
              </a:rPr>
              <a:t> «</a:t>
            </a:r>
            <a:r>
              <a:rPr sz="2000" b="0" i="0" u="none" dirty="0" err="1">
                <a:solidFill>
                  <a:srgbClr val="000000"/>
                </a:solidFill>
                <a:latin typeface="Times New Roman"/>
              </a:rPr>
              <a:t>Интеллектуализация</a:t>
            </a:r>
            <a:r>
              <a:rPr sz="2000" b="0" i="0" u="none" dirty="0">
                <a:solidFill>
                  <a:srgbClr val="000000"/>
                </a:solidFill>
                <a:latin typeface="Times New Roman"/>
              </a:rPr>
              <a:t>
</a:t>
            </a:r>
            <a:r>
              <a:rPr sz="2000" b="0" i="0" u="none" dirty="0" err="1">
                <a:solidFill>
                  <a:srgbClr val="000000"/>
                </a:solidFill>
                <a:latin typeface="Times New Roman"/>
              </a:rPr>
              <a:t>обработки</a:t>
            </a:r>
            <a:r>
              <a:rPr sz="2000" b="0" i="0" u="none" dirty="0">
                <a:solidFill>
                  <a:srgbClr val="000000"/>
                </a:solidFill>
                <a:latin typeface="Times New Roman"/>
              </a:rPr>
              <a:t> </a:t>
            </a:r>
            <a:r>
              <a:rPr sz="2000" b="0" i="0" u="none" dirty="0" err="1">
                <a:solidFill>
                  <a:srgbClr val="000000"/>
                </a:solidFill>
                <a:latin typeface="Times New Roman"/>
              </a:rPr>
              <a:t>информации</a:t>
            </a:r>
            <a:r>
              <a:rPr sz="2000" b="0" i="0" u="none" dirty="0">
                <a:solidFill>
                  <a:srgbClr val="000000"/>
                </a:solidFill>
                <a:latin typeface="Times New Roman"/>
              </a:rPr>
              <a:t>» (ИОИ-2026)</a:t>
            </a:r>
          </a:p>
        </p:txBody>
      </p:sp>
      <p:sp>
        <p:nvSpPr>
          <p:cNvPr id="10" name="TextBox 9"/>
          <p:cNvSpPr txBox="1"/>
          <p:nvPr/>
        </p:nvSpPr>
        <p:spPr>
          <a:xfrm>
            <a:off x="777240" y="5010912"/>
            <a:ext cx="7589520" cy="347472"/>
          </a:xfrm>
          <a:prstGeom prst="rect">
            <a:avLst/>
          </a:prstGeom>
          <a:noFill/>
        </p:spPr>
        <p:txBody>
          <a:bodyPr wrap="none" lIns="0" tIns="0" rIns="0" bIns="0" anchor="ctr">
            <a:spAutoFit/>
          </a:bodyPr>
          <a:lstStyle/>
          <a:p>
            <a:pPr algn="ctr"/>
            <a:r>
              <a:rPr sz="1850" b="0" i="0" u="none" dirty="0">
                <a:solidFill>
                  <a:srgbClr val="000000"/>
                </a:solidFill>
                <a:latin typeface="Times New Roman"/>
              </a:rPr>
              <a:t>Intelligent Data Processing: Theory and Applications, IDP-2026</a:t>
            </a:r>
          </a:p>
        </p:txBody>
      </p:sp>
      <p:sp>
        <p:nvSpPr>
          <p:cNvPr id="11" name="TextBox 10"/>
          <p:cNvSpPr txBox="1"/>
          <p:nvPr/>
        </p:nvSpPr>
        <p:spPr>
          <a:xfrm>
            <a:off x="914400" y="5577840"/>
            <a:ext cx="7315200" cy="347472"/>
          </a:xfrm>
          <a:prstGeom prst="rect">
            <a:avLst/>
          </a:prstGeom>
          <a:noFill/>
        </p:spPr>
        <p:txBody>
          <a:bodyPr wrap="none" lIns="0" tIns="0" rIns="0" bIns="0" anchor="ctr">
            <a:spAutoFit/>
          </a:bodyPr>
          <a:lstStyle/>
          <a:p>
            <a:pPr algn="ctr"/>
            <a:r>
              <a:rPr sz="1750" b="0" i="0" u="none">
                <a:solidFill>
                  <a:srgbClr val="000000"/>
                </a:solidFill>
                <a:latin typeface="Times New Roman"/>
              </a:rPr>
              <a:t>Беларусь, г. Витебск, 28 сентября – 2 октября 2026 г.</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Постановка задачи распознавания промотеров</a:t>
            </a:r>
            <a:endParaRPr lang="en-US" sz="24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816906" y="6537960"/>
            <a:ext cx="1116782" cy="128016"/>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a:t>
            </a:r>
            <a:r>
              <a:rPr lang="en-US" sz="2000" dirty="0">
                <a:solidFill>
                  <a:srgbClr val="666666"/>
                </a:solidFill>
                <a:latin typeface="Times New Roman" pitchFamily="34" charset="0"/>
                <a:ea typeface="Times New Roman" pitchFamily="34" charset="-122"/>
                <a:cs typeface="Times New Roman" pitchFamily="34" charset="-120"/>
              </a:rPr>
              <a:t> 2</a:t>
            </a:r>
            <a:endParaRPr lang="en-US" sz="2000" dirty="0"/>
          </a:p>
        </p:txBody>
      </p:sp>
      <p:sp>
        <p:nvSpPr>
          <p:cNvPr id="5" name="Text 3"/>
          <p:cNvSpPr/>
          <p:nvPr/>
        </p:nvSpPr>
        <p:spPr>
          <a:xfrm>
            <a:off x="2880360" y="1051560"/>
            <a:ext cx="3383280" cy="59436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Drosophila melanogaster</a:t>
            </a:r>
            <a:endParaRPr lang="en-US" sz="1500" dirty="0"/>
          </a:p>
        </p:txBody>
      </p:sp>
      <p:sp>
        <p:nvSpPr>
          <p:cNvPr id="6" name="Text 4"/>
          <p:cNvSpPr/>
          <p:nvPr/>
        </p:nvSpPr>
        <p:spPr>
          <a:xfrm>
            <a:off x="914400" y="2148840"/>
            <a:ext cx="3154680" cy="914400"/>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положительные примеры</a:t>
            </a:r>
            <a:endParaRPr lang="en-US" sz="1500" dirty="0"/>
          </a:p>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участки промотеров</a:t>
            </a:r>
            <a:endParaRPr lang="en-US" sz="1500" dirty="0"/>
          </a:p>
        </p:txBody>
      </p:sp>
      <p:sp>
        <p:nvSpPr>
          <p:cNvPr id="7" name="Text 5"/>
          <p:cNvSpPr/>
          <p:nvPr/>
        </p:nvSpPr>
        <p:spPr>
          <a:xfrm>
            <a:off x="5074920" y="2148840"/>
            <a:ext cx="3154680" cy="914400"/>
          </a:xfrm>
          <a:prstGeom prst="rect">
            <a:avLst/>
          </a:prstGeom>
          <a:solidFill>
            <a:srgbClr val="FCE4D6"/>
          </a:solidFill>
          <a:ln w="12700">
            <a:solidFill>
              <a:srgbClr val="ED7D31"/>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отрицательные примеры</a:t>
            </a:r>
            <a:endParaRPr lang="en-US" sz="1500" dirty="0"/>
          </a:p>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участки экзонов</a:t>
            </a:r>
            <a:endParaRPr lang="en-US" sz="1500" dirty="0"/>
          </a:p>
        </p:txBody>
      </p:sp>
      <p:sp>
        <p:nvSpPr>
          <p:cNvPr id="8" name="Text 6"/>
          <p:cNvSpPr/>
          <p:nvPr/>
        </p:nvSpPr>
        <p:spPr>
          <a:xfrm>
            <a:off x="2011680" y="3703320"/>
            <a:ext cx="5120640" cy="658368"/>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задача бинарной классификации</a:t>
            </a:r>
            <a:endParaRPr lang="en-US" sz="1600" dirty="0"/>
          </a:p>
        </p:txBody>
      </p:sp>
      <p:sp>
        <p:nvSpPr>
          <p:cNvPr id="9" name="Text 7"/>
          <p:cNvSpPr/>
          <p:nvPr/>
        </p:nvSpPr>
        <p:spPr>
          <a:xfrm>
            <a:off x="1097280" y="4892040"/>
            <a:ext cx="6949440" cy="411480"/>
          </a:xfrm>
          <a:prstGeom prst="rect">
            <a:avLst/>
          </a:prstGeom>
          <a:noFill/>
          <a:ln/>
        </p:spPr>
        <p:txBody>
          <a:bodyPr wrap="square" lIns="254" tIns="254" rIns="254" bIns="254" rtlCol="0" anchor="ctr">
            <a:normAutofit/>
          </a:bodyPr>
          <a:lstStyle/>
          <a:p>
            <a:pPr marL="0" indent="0" algn="ctr">
              <a:buNone/>
            </a:pPr>
            <a:r>
              <a:rPr lang="en-US" sz="2100" b="1" dirty="0">
                <a:solidFill>
                  <a:srgbClr val="000000"/>
                </a:solidFill>
                <a:latin typeface="Times New Roman" pitchFamily="34" charset="0"/>
                <a:ea typeface="Times New Roman" pitchFamily="34" charset="-122"/>
                <a:cs typeface="Times New Roman" pitchFamily="34" charset="-120"/>
              </a:rPr>
              <a:t>Распознавание промотеров (gene promoter prediction)</a:t>
            </a:r>
            <a:endParaRPr lang="en-US" sz="1600" dirty="0"/>
          </a:p>
        </p:txBody>
      </p:sp>
      <p:sp>
        <p:nvSpPr>
          <p:cNvPr id="10" name="Text 8"/>
          <p:cNvSpPr/>
          <p:nvPr/>
        </p:nvSpPr>
        <p:spPr>
          <a:xfrm>
            <a:off x="1097280" y="5486400"/>
            <a:ext cx="6949440" cy="347472"/>
          </a:xfrm>
          <a:prstGeom prst="rect">
            <a:avLst/>
          </a:prstGeom>
          <a:noFill/>
          <a:ln/>
        </p:spPr>
        <p:txBody>
          <a:bodyPr wrap="square" lIns="254" tIns="254" rIns="254" bIns="254" rtlCol="0" anchor="ctr">
            <a:normAutofit/>
          </a:bodyPr>
          <a:lstStyle/>
          <a:p>
            <a:pPr marL="0" indent="0" algn="ctr">
              <a:buNone/>
            </a:pPr>
            <a:r>
              <a:rPr lang="en-US" sz="2000" dirty="0">
                <a:solidFill>
                  <a:srgbClr val="000000"/>
                </a:solidFill>
                <a:latin typeface="Times New Roman" pitchFamily="34" charset="0"/>
                <a:ea typeface="Times New Roman" pitchFamily="34" charset="-122"/>
                <a:cs typeface="Times New Roman" pitchFamily="34" charset="-120"/>
              </a:rPr>
              <a:t>Для оценки качества классификации используется ROC-AUC.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sz="2400" b="1"/>
              <a:t>Логическая классификация и корректные ЭК</a:t>
            </a:r>
            <a:endParaRPr lang="en-US" sz="17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824998" y="6519672"/>
            <a:ext cx="1108690"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3</a:t>
            </a:r>
            <a:endParaRPr lang="en-US" sz="2400" dirty="0"/>
          </a:p>
        </p:txBody>
      </p:sp>
      <p:sp>
        <p:nvSpPr>
          <p:cNvPr id="5" name="Text 3"/>
          <p:cNvSpPr/>
          <p:nvPr/>
        </p:nvSpPr>
        <p:spPr>
          <a:xfrm>
            <a:off x="731520" y="1508760"/>
            <a:ext cx="7680960" cy="3360420"/>
          </a:xfrm>
          <a:prstGeom prst="rect">
            <a:avLst/>
          </a:prstGeom>
          <a:noFill/>
          <a:ln/>
        </p:spPr>
        <p:txBody>
          <a:bodyPr wrap="square" lIns="762" tIns="762" rIns="762" bIns="762" rtlCol="0" anchor="t">
            <a:normAutofit/>
          </a:bodyPr>
          <a:lstStyle/>
          <a:p>
            <a:r>
              <a:rPr sz="2000"/>
              <a:t>Каждый признак имеет ограниченное множество допустимых значений, которые кодируются целыми числами.</a:t>
            </a:r>
            <a:endParaRPr lang="en-US" sz="1550" dirty="0"/>
          </a:p>
          <a:p>
            <a:endParaRPr lang="en-US" sz="1550" dirty="0"/>
          </a:p>
          <a:p>
            <a:r>
              <a:rPr sz="2000"/>
              <a:t>Обучение классификатора сводится к поиску в исходных данных информативных фрагментов описаний прецедентов — корректных элементарных классификаторов.</a:t>
            </a:r>
          </a:p>
          <a:p>
            <a:endParaRPr sz="2000"/>
          </a:p>
          <a:p>
            <a:r>
              <a:rPr sz="2000"/>
              <a:t>Искомые ЭК позволяют различать объекты из разных классов и имеют содержательное описание в терминах прикладной области.</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sz="2400" b="1"/>
              <a:t>Понятие представительного ЭК класса K</a:t>
            </a:r>
            <a:endParaRPr lang="en-US" sz="24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816906" y="6519672"/>
            <a:ext cx="1116782"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4</a:t>
            </a:r>
            <a:endParaRPr lang="en-US" sz="2400" dirty="0"/>
          </a:p>
        </p:txBody>
      </p:sp>
      <p:sp>
        <p:nvSpPr>
          <p:cNvPr id="5" name="Text 3"/>
          <p:cNvSpPr/>
          <p:nvPr/>
        </p:nvSpPr>
        <p:spPr>
          <a:xfrm>
            <a:off x="868680" y="1051560"/>
            <a:ext cx="7406640" cy="502920"/>
          </a:xfrm>
          <a:prstGeom prst="rect">
            <a:avLst/>
          </a:prstGeom>
          <a:noFill/>
          <a:ln/>
        </p:spPr>
        <p:txBody>
          <a:bodyPr wrap="square" lIns="381" tIns="381" rIns="381" bIns="381" rtlCol="0" anchor="ctr">
            <a:normAutofit fontScale="92500" lnSpcReduction="10000"/>
          </a:bodyPr>
          <a:lstStyle/>
          <a:p>
            <a:pPr marL="0" indent="0" algn="ctr">
              <a:buNone/>
            </a:pPr>
            <a:r>
              <a:rPr sz="1850" b="1" dirty="0" err="1"/>
              <a:t>Представительный</a:t>
            </a:r>
            <a:r>
              <a:rPr sz="1850" b="1" dirty="0"/>
              <a:t> ЭК </a:t>
            </a:r>
            <a:r>
              <a:rPr sz="1850" b="1" dirty="0" err="1"/>
              <a:t>класса</a:t>
            </a:r>
            <a:r>
              <a:rPr sz="1850" b="1" dirty="0"/>
              <a:t> K — ДК (</a:t>
            </a:r>
            <a:r>
              <a:rPr sz="1850" b="1" dirty="0" err="1"/>
              <a:t>допустимая</a:t>
            </a:r>
            <a:r>
              <a:rPr sz="1850" b="1" dirty="0"/>
              <a:t> </a:t>
            </a:r>
            <a:r>
              <a:rPr sz="1850" b="1" dirty="0" err="1"/>
              <a:t>конъюнкция</a:t>
            </a:r>
            <a:r>
              <a:rPr sz="1850" b="1" dirty="0"/>
              <a:t>) B(</a:t>
            </a:r>
            <a:r>
              <a:rPr sz="1850" b="1" dirty="0" err="1"/>
              <a:t>σ,H</a:t>
            </a:r>
            <a:r>
              <a:rPr sz="1850" b="1" dirty="0"/>
              <a:t>) </a:t>
            </a:r>
            <a:r>
              <a:rPr sz="1850" b="1" dirty="0" err="1"/>
              <a:t>для</a:t>
            </a:r>
            <a:r>
              <a:rPr sz="1850" b="1" dirty="0"/>
              <a:t> </a:t>
            </a:r>
            <a:r>
              <a:rPr sz="1850" b="1" dirty="0" err="1"/>
              <a:t>функции</a:t>
            </a:r>
            <a:r>
              <a:rPr sz="1850" b="1" dirty="0"/>
              <a:t> Fₖ.</a:t>
            </a:r>
            <a:endParaRPr lang="en-US" sz="1850" dirty="0"/>
          </a:p>
        </p:txBody>
      </p:sp>
      <p:sp>
        <p:nvSpPr>
          <p:cNvPr id="6" name="Text 4"/>
          <p:cNvSpPr/>
          <p:nvPr/>
        </p:nvSpPr>
        <p:spPr>
          <a:xfrm>
            <a:off x="1005840" y="2286000"/>
            <a:ext cx="3017520" cy="914400"/>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описания прецедентов</a:t>
            </a:r>
            <a:endParaRPr lang="en-US" sz="1500" dirty="0"/>
          </a:p>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класса K</a:t>
            </a:r>
            <a:endParaRPr lang="en-US" sz="1500" dirty="0"/>
          </a:p>
        </p:txBody>
      </p:sp>
      <p:sp>
        <p:nvSpPr>
          <p:cNvPr id="7" name="Text 5"/>
          <p:cNvSpPr/>
          <p:nvPr/>
        </p:nvSpPr>
        <p:spPr>
          <a:xfrm>
            <a:off x="5120640" y="2286000"/>
            <a:ext cx="3017520" cy="914400"/>
          </a:xfrm>
          <a:prstGeom prst="rect">
            <a:avLst/>
          </a:prstGeom>
          <a:solidFill>
            <a:srgbClr val="FCE4D6"/>
          </a:solidFill>
          <a:ln w="12700">
            <a:solidFill>
              <a:srgbClr val="ED7D31"/>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описания прецедентов</a:t>
            </a:r>
            <a:endParaRPr lang="en-US" sz="1500" dirty="0"/>
          </a:p>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других классов</a:t>
            </a:r>
            <a:endParaRPr lang="en-US" sz="1500" dirty="0"/>
          </a:p>
        </p:txBody>
      </p:sp>
      <p:sp>
        <p:nvSpPr>
          <p:cNvPr id="8" name="Text 6"/>
          <p:cNvSpPr/>
          <p:nvPr/>
        </p:nvSpPr>
        <p:spPr>
          <a:xfrm>
            <a:off x="1600200" y="3626450"/>
            <a:ext cx="1828800" cy="59436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Fₖ = 1</a:t>
            </a:r>
            <a:endParaRPr lang="en-US" sz="1600" dirty="0"/>
          </a:p>
        </p:txBody>
      </p:sp>
      <p:sp>
        <p:nvSpPr>
          <p:cNvPr id="9" name="Text 7"/>
          <p:cNvSpPr/>
          <p:nvPr/>
        </p:nvSpPr>
        <p:spPr>
          <a:xfrm>
            <a:off x="5715000" y="3640267"/>
            <a:ext cx="1828800" cy="59436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Fₖ = 0</a:t>
            </a:r>
            <a:endParaRPr lang="en-US" sz="1600" dirty="0"/>
          </a:p>
        </p:txBody>
      </p:sp>
      <p:sp>
        <p:nvSpPr>
          <p:cNvPr id="10" name="Text 8"/>
          <p:cNvSpPr/>
          <p:nvPr/>
        </p:nvSpPr>
        <p:spPr>
          <a:xfrm>
            <a:off x="1097280" y="4572000"/>
            <a:ext cx="6949440" cy="320040"/>
          </a:xfrm>
          <a:prstGeom prst="rect">
            <a:avLst/>
          </a:prstGeom>
          <a:noFill/>
          <a:ln/>
        </p:spPr>
        <p:txBody>
          <a:bodyPr wrap="square" lIns="254" tIns="254" rIns="254" bIns="254" rtlCol="0" anchor="ctr"/>
          <a:lstStyle/>
          <a:p>
            <a:pPr marL="0" indent="0" algn="ctr">
              <a:buNone/>
            </a:pPr>
            <a:r>
              <a:rPr sz="2000" b="1"/>
              <a:t>По определению интервал истинности ДК:</a:t>
            </a:r>
            <a:endParaRPr lang="en-US" sz="1500" dirty="0"/>
          </a:p>
        </p:txBody>
      </p:sp>
      <p:sp>
        <p:nvSpPr>
          <p:cNvPr id="11" name="Text 9"/>
          <p:cNvSpPr/>
          <p:nvPr/>
        </p:nvSpPr>
        <p:spPr>
          <a:xfrm>
            <a:off x="1463040" y="4983480"/>
            <a:ext cx="6217920" cy="685800"/>
          </a:xfrm>
          <a:prstGeom prst="rect">
            <a:avLst/>
          </a:prstGeom>
          <a:noFill/>
          <a:ln/>
        </p:spPr>
        <p:txBody>
          <a:bodyPr wrap="square" lIns="254" tIns="254" rIns="254" bIns="254" rtlCol="0" anchor="ctr">
            <a:normAutofit/>
          </a:bodyPr>
          <a:lstStyle/>
          <a:p>
            <a:pPr marL="0" indent="0">
              <a:buNone/>
            </a:pPr>
            <a:r>
              <a:rPr sz="1750" dirty="0"/>
              <a:t>• </a:t>
            </a:r>
            <a:r>
              <a:rPr sz="1750" dirty="0" err="1"/>
              <a:t>имеет</a:t>
            </a:r>
            <a:r>
              <a:rPr sz="1750" dirty="0"/>
              <a:t> </a:t>
            </a:r>
            <a:r>
              <a:rPr sz="1750" dirty="0" err="1"/>
              <a:t>непустое</a:t>
            </a:r>
            <a:r>
              <a:rPr sz="1750" dirty="0"/>
              <a:t> </a:t>
            </a:r>
            <a:r>
              <a:rPr sz="1750" dirty="0" err="1"/>
              <a:t>пересечение</a:t>
            </a:r>
            <a:r>
              <a:rPr sz="1750" dirty="0"/>
              <a:t> </a:t>
            </a:r>
            <a:r>
              <a:rPr sz="1750" dirty="0" err="1"/>
              <a:t>с</a:t>
            </a:r>
            <a:r>
              <a:rPr sz="1750" dirty="0"/>
              <a:t> </a:t>
            </a:r>
            <a:r>
              <a:rPr sz="1750" dirty="0" err="1"/>
              <a:t>множеством</a:t>
            </a:r>
            <a:r>
              <a:rPr sz="1750" dirty="0"/>
              <a:t> </a:t>
            </a:r>
            <a:r>
              <a:rPr sz="1750" dirty="0" err="1"/>
              <a:t>единиц</a:t>
            </a:r>
            <a:r>
              <a:rPr sz="1750" dirty="0"/>
              <a:t> </a:t>
            </a:r>
            <a:r>
              <a:rPr sz="1750" dirty="0" err="1"/>
              <a:t>функции</a:t>
            </a:r>
            <a:r>
              <a:rPr sz="1750" dirty="0"/>
              <a:t> Fₖ;</a:t>
            </a:r>
            <a:endParaRPr lang="en-US" sz="1750" dirty="0"/>
          </a:p>
          <a:p>
            <a:r>
              <a:rPr sz="1750" dirty="0"/>
              <a:t>• </a:t>
            </a:r>
            <a:r>
              <a:rPr sz="1750" dirty="0" err="1"/>
              <a:t>имеет</a:t>
            </a:r>
            <a:r>
              <a:rPr sz="1750" dirty="0"/>
              <a:t> </a:t>
            </a:r>
            <a:r>
              <a:rPr sz="1750" dirty="0" err="1"/>
              <a:t>пустое</a:t>
            </a:r>
            <a:r>
              <a:rPr sz="1750" dirty="0"/>
              <a:t> </a:t>
            </a:r>
            <a:r>
              <a:rPr sz="1750" dirty="0" err="1"/>
              <a:t>пересечение</a:t>
            </a:r>
            <a:r>
              <a:rPr sz="1750" dirty="0"/>
              <a:t> </a:t>
            </a:r>
            <a:r>
              <a:rPr sz="1750" dirty="0" err="1"/>
              <a:t>с</a:t>
            </a:r>
            <a:r>
              <a:rPr sz="1750" dirty="0"/>
              <a:t> </a:t>
            </a:r>
            <a:r>
              <a:rPr sz="1750" dirty="0" err="1"/>
              <a:t>множеством</a:t>
            </a:r>
            <a:r>
              <a:rPr sz="1750" dirty="0"/>
              <a:t> </a:t>
            </a:r>
            <a:r>
              <a:rPr sz="1750" dirty="0" err="1"/>
              <a:t>нулей</a:t>
            </a:r>
            <a:r>
              <a:rPr sz="1750" dirty="0"/>
              <a:t> </a:t>
            </a:r>
            <a:r>
              <a:rPr sz="1750" dirty="0" err="1"/>
              <a:t>функции</a:t>
            </a:r>
            <a:r>
              <a:rPr sz="1750" dirty="0"/>
              <a:t> Fₖ.</a:t>
            </a:r>
          </a:p>
        </p:txBody>
      </p:sp>
      <p:sp>
        <p:nvSpPr>
          <p:cNvPr id="12" name="Text 10"/>
          <p:cNvSpPr/>
          <p:nvPr/>
        </p:nvSpPr>
        <p:spPr>
          <a:xfrm>
            <a:off x="868680" y="1814833"/>
            <a:ext cx="7406640" cy="502920"/>
          </a:xfrm>
          <a:prstGeom prst="rect">
            <a:avLst/>
          </a:prstGeom>
          <a:noFill/>
          <a:ln/>
        </p:spPr>
        <p:txBody>
          <a:bodyPr wrap="square" lIns="381" tIns="381" rIns="381" bIns="381" rtlCol="0" anchor="ctr">
            <a:noAutofit/>
          </a:bodyPr>
          <a:lstStyle/>
          <a:p>
            <a:pPr algn="ctr"/>
            <a:r>
              <a:rPr lang="en" b="0" dirty="0">
                <a:latin typeface="+mj-lt"/>
              </a:rPr>
              <a:t>H = {xⱼ₁, …, xⱼᵣ}, </a:t>
            </a:r>
            <a:r>
              <a:rPr lang="el-GR" b="0" dirty="0">
                <a:latin typeface="+mj-lt"/>
              </a:rPr>
              <a:t>σ = (σ₁, …, σ</a:t>
            </a:r>
            <a:r>
              <a:rPr lang="en" b="0" dirty="0">
                <a:latin typeface="+mj-lt"/>
              </a:rPr>
              <a:t>ᵣ), </a:t>
            </a:r>
            <a:r>
              <a:rPr lang="ru-RU" b="0" dirty="0">
                <a:latin typeface="+mj-lt"/>
              </a:rPr>
              <a:t>где </a:t>
            </a:r>
            <a:r>
              <a:rPr lang="el-GR" b="0" dirty="0">
                <a:latin typeface="+mj-lt"/>
              </a:rPr>
              <a:t>σ</a:t>
            </a:r>
            <a:r>
              <a:rPr lang="en" b="0" dirty="0">
                <a:latin typeface="+mj-lt"/>
              </a:rPr>
              <a:t>ᵢ — </a:t>
            </a:r>
            <a:r>
              <a:rPr lang="ru-RU" b="0" dirty="0">
                <a:latin typeface="+mj-lt"/>
              </a:rPr>
              <a:t>допустимое значение </a:t>
            </a:r>
            <a:r>
              <a:rPr lang="en" b="0" dirty="0">
                <a:latin typeface="+mj-lt"/>
              </a:rPr>
              <a:t>xⱼᵢ.</a:t>
            </a:r>
            <a:br>
              <a:rPr lang="en" b="0" dirty="0">
                <a:latin typeface="+mj-lt"/>
              </a:rPr>
            </a:br>
            <a:r>
              <a:rPr lang="en" b="0" dirty="0">
                <a:effectLst/>
                <a:latin typeface="+mj-lt"/>
              </a:rPr>
              <a:t>B=x</a:t>
            </a:r>
            <a:r>
              <a:rPr lang="en" b="0" baseline="-25000" dirty="0">
                <a:effectLst/>
                <a:latin typeface="+mj-lt"/>
              </a:rPr>
              <a:t>j1</a:t>
            </a:r>
            <a:r>
              <a:rPr lang="el-GR" b="0" baseline="30000" dirty="0">
                <a:effectLst/>
                <a:latin typeface="+mj-lt"/>
              </a:rPr>
              <a:t>σ1</a:t>
            </a:r>
            <a:r>
              <a:rPr lang="el-GR" b="0" dirty="0">
                <a:effectLst/>
                <a:latin typeface="+mj-lt"/>
              </a:rPr>
              <a:t>∧…∧</a:t>
            </a:r>
            <a:r>
              <a:rPr lang="ru-RU" b="0" dirty="0">
                <a:effectLst/>
                <a:latin typeface="+mj-lt"/>
              </a:rPr>
              <a:t> </a:t>
            </a:r>
            <a:r>
              <a:rPr lang="en" b="0" dirty="0" err="1">
                <a:effectLst/>
                <a:latin typeface="+mj-lt"/>
              </a:rPr>
              <a:t>x</a:t>
            </a:r>
            <a:r>
              <a:rPr lang="en" b="0" baseline="-25000" dirty="0" err="1">
                <a:effectLst/>
                <a:latin typeface="+mj-lt"/>
              </a:rPr>
              <a:t>jr</a:t>
            </a:r>
            <a:r>
              <a:rPr lang="el-GR" b="0" baseline="30000" dirty="0">
                <a:effectLst/>
                <a:latin typeface="+mj-lt"/>
              </a:rPr>
              <a:t>σ</a:t>
            </a:r>
            <a:r>
              <a:rPr lang="en" b="0" baseline="30000" dirty="0">
                <a:effectLst/>
                <a:latin typeface="+mj-lt"/>
              </a:rPr>
              <a:t>r</a:t>
            </a:r>
          </a:p>
          <a:p>
            <a:pPr algn="ctr"/>
            <a:endParaRPr lang="en" b="0" dirty="0">
              <a:latin typeface="+mj-lt"/>
            </a:endParaRPr>
          </a:p>
        </p:txBody>
      </p:sp>
      <p:sp>
        <p:nvSpPr>
          <p:cNvPr id="13" name="Object contains EC"/>
          <p:cNvSpPr/>
          <p:nvPr/>
        </p:nvSpPr>
        <p:spPr>
          <a:xfrm>
            <a:off x="914400" y="6035040"/>
            <a:ext cx="7315200" cy="274320"/>
          </a:xfrm>
          <a:prstGeom prst="rect">
            <a:avLst/>
          </a:prstGeom>
          <a:noFill/>
          <a:ln/>
        </p:spPr>
        <p:txBody>
          <a:bodyPr wrap="square" lIns="254" tIns="254" rIns="254" bIns="254" rtlCol="0" anchor="ctr"/>
          <a:lstStyle/>
          <a:p>
            <a:pPr marL="0" indent="0" algn="ctr">
              <a:buNone/>
            </a:pPr>
            <a:r>
              <a:rPr sz="1200" b="1" dirty="0" err="1"/>
              <a:t>Если</a:t>
            </a:r>
            <a:r>
              <a:rPr sz="1200" b="1" dirty="0"/>
              <a:t> </a:t>
            </a:r>
            <a:r>
              <a:rPr sz="1200" b="1" dirty="0" err="1"/>
              <a:t>описание</a:t>
            </a:r>
            <a:r>
              <a:rPr sz="1200" b="1" dirty="0"/>
              <a:t> </a:t>
            </a:r>
            <a:r>
              <a:rPr sz="1200" b="1" dirty="0" err="1"/>
              <a:t>объекта</a:t>
            </a:r>
            <a:r>
              <a:rPr sz="1200" b="1" dirty="0"/>
              <a:t> S </a:t>
            </a:r>
            <a:r>
              <a:rPr sz="1200" b="1" dirty="0" err="1"/>
              <a:t>принадлежит</a:t>
            </a:r>
            <a:r>
              <a:rPr sz="1200" b="1" dirty="0"/>
              <a:t> </a:t>
            </a:r>
            <a:r>
              <a:rPr sz="1200" b="1" dirty="0" err="1"/>
              <a:t>интервалу</a:t>
            </a:r>
            <a:r>
              <a:rPr sz="1200" b="1" dirty="0"/>
              <a:t> </a:t>
            </a:r>
            <a:r>
              <a:rPr sz="1200" b="1" dirty="0" err="1"/>
              <a:t>истинности</a:t>
            </a:r>
            <a:r>
              <a:rPr sz="1200" b="1" dirty="0"/>
              <a:t> B, </a:t>
            </a:r>
            <a:r>
              <a:rPr sz="1200" b="1" dirty="0" err="1"/>
              <a:t>то</a:t>
            </a:r>
            <a:r>
              <a:rPr sz="1200" b="1" dirty="0"/>
              <a:t> </a:t>
            </a:r>
            <a:r>
              <a:rPr sz="1200" b="1" dirty="0" err="1"/>
              <a:t>объект</a:t>
            </a:r>
            <a:r>
              <a:rPr sz="1200" b="1" dirty="0"/>
              <a:t> S </a:t>
            </a:r>
            <a:r>
              <a:rPr sz="1200" b="1" dirty="0" err="1"/>
              <a:t>содержит</a:t>
            </a:r>
            <a:r>
              <a:rPr sz="1200" b="1" dirty="0"/>
              <a:t> ЭК 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Вычислительные ограничения</a:t>
            </a:r>
            <a:endParaRPr lang="en-US" sz="17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485133" y="6519672"/>
            <a:ext cx="1448555"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5</a:t>
            </a:r>
            <a:endParaRPr lang="en-US" sz="2400" dirty="0"/>
          </a:p>
        </p:txBody>
      </p:sp>
      <p:sp>
        <p:nvSpPr>
          <p:cNvPr id="5" name="Text 3"/>
          <p:cNvSpPr/>
          <p:nvPr/>
        </p:nvSpPr>
        <p:spPr>
          <a:xfrm>
            <a:off x="868680" y="2521634"/>
            <a:ext cx="7406640" cy="1814732"/>
          </a:xfrm>
          <a:prstGeom prst="rect">
            <a:avLst/>
          </a:prstGeom>
          <a:noFill/>
          <a:ln/>
        </p:spPr>
        <p:txBody>
          <a:bodyPr wrap="square" lIns="762" tIns="762" rIns="762" bIns="762" rtlCol="0" anchor="t">
            <a:normAutofit/>
          </a:bodyPr>
          <a:lstStyle/>
          <a:p>
            <a:r>
              <a:rPr sz="2000" dirty="0" err="1"/>
              <a:t>Из-за</a:t>
            </a:r>
            <a:r>
              <a:rPr sz="2000" dirty="0"/>
              <a:t> </a:t>
            </a:r>
            <a:r>
              <a:rPr sz="2000" dirty="0" err="1"/>
              <a:t>требования</a:t>
            </a:r>
            <a:r>
              <a:rPr sz="2000" dirty="0"/>
              <a:t> </a:t>
            </a:r>
            <a:r>
              <a:rPr sz="2000" dirty="0" err="1"/>
              <a:t>корректности</a:t>
            </a:r>
            <a:r>
              <a:rPr sz="2000" dirty="0"/>
              <a:t> </a:t>
            </a:r>
            <a:r>
              <a:rPr sz="2000" dirty="0" err="1"/>
              <a:t>на</a:t>
            </a:r>
            <a:r>
              <a:rPr sz="2000" dirty="0"/>
              <a:t> </a:t>
            </a:r>
            <a:r>
              <a:rPr sz="2000" dirty="0" err="1"/>
              <a:t>этапе</a:t>
            </a:r>
            <a:r>
              <a:rPr sz="2000" dirty="0"/>
              <a:t> </a:t>
            </a:r>
            <a:r>
              <a:rPr sz="2000" dirty="0" err="1"/>
              <a:t>обучения</a:t>
            </a:r>
            <a:r>
              <a:rPr sz="2000" dirty="0"/>
              <a:t> </a:t>
            </a:r>
            <a:r>
              <a:rPr sz="2000" dirty="0" err="1"/>
              <a:t>возникают</a:t>
            </a:r>
            <a:r>
              <a:rPr sz="2000" dirty="0"/>
              <a:t> </a:t>
            </a:r>
            <a:r>
              <a:rPr sz="2000" dirty="0" err="1"/>
              <a:t>сложные</a:t>
            </a:r>
            <a:r>
              <a:rPr sz="2000" dirty="0"/>
              <a:t> </a:t>
            </a:r>
            <a:r>
              <a:rPr sz="2000" dirty="0" err="1"/>
              <a:t>в</a:t>
            </a:r>
            <a:r>
              <a:rPr sz="2000" dirty="0"/>
              <a:t> </a:t>
            </a:r>
            <a:r>
              <a:rPr sz="2000" dirty="0" err="1"/>
              <a:t>вычислительном</a:t>
            </a:r>
            <a:r>
              <a:rPr sz="2000" dirty="0"/>
              <a:t> </a:t>
            </a:r>
            <a:r>
              <a:rPr sz="2000" dirty="0" err="1"/>
              <a:t>плане</a:t>
            </a:r>
            <a:r>
              <a:rPr sz="2000" dirty="0"/>
              <a:t> </a:t>
            </a:r>
            <a:r>
              <a:rPr sz="2000" dirty="0" err="1"/>
              <a:t>дискретные</a:t>
            </a:r>
            <a:r>
              <a:rPr sz="2000" dirty="0"/>
              <a:t> </a:t>
            </a:r>
            <a:r>
              <a:rPr sz="2000" dirty="0" err="1"/>
              <a:t>задачи</a:t>
            </a:r>
            <a:r>
              <a:rPr sz="2000" dirty="0"/>
              <a:t>.</a:t>
            </a:r>
            <a:endParaRPr lang="en-US" sz="1500" dirty="0"/>
          </a:p>
          <a:p>
            <a:endParaRPr lang="en-US" sz="1500" dirty="0"/>
          </a:p>
          <a:p>
            <a:r>
              <a:rPr sz="2000" dirty="0" err="1"/>
              <a:t>В</a:t>
            </a:r>
            <a:r>
              <a:rPr sz="2000" dirty="0"/>
              <a:t> </a:t>
            </a:r>
            <a:r>
              <a:rPr sz="2000" dirty="0" err="1"/>
              <a:t>случае</a:t>
            </a:r>
            <a:r>
              <a:rPr sz="2000" dirty="0"/>
              <a:t> </a:t>
            </a:r>
            <a:r>
              <a:rPr sz="2000" dirty="0" err="1"/>
              <a:t>многозначных</a:t>
            </a:r>
            <a:r>
              <a:rPr sz="2000" dirty="0"/>
              <a:t> </a:t>
            </a:r>
            <a:r>
              <a:rPr sz="2000" dirty="0" err="1"/>
              <a:t>признаков</a:t>
            </a:r>
            <a:r>
              <a:rPr sz="2000" dirty="0"/>
              <a:t> </a:t>
            </a:r>
            <a:r>
              <a:rPr sz="2000" dirty="0" err="1"/>
              <a:t>для</a:t>
            </a:r>
            <a:r>
              <a:rPr sz="2000" dirty="0"/>
              <a:t> </a:t>
            </a:r>
            <a:r>
              <a:rPr sz="2000" dirty="0" err="1"/>
              <a:t>повышения</a:t>
            </a:r>
            <a:r>
              <a:rPr sz="2000" dirty="0"/>
              <a:t> </a:t>
            </a:r>
            <a:r>
              <a:rPr sz="2000" dirty="0" err="1"/>
              <a:t>точности</a:t>
            </a:r>
            <a:r>
              <a:rPr sz="2000" dirty="0"/>
              <a:t> </a:t>
            </a:r>
            <a:r>
              <a:rPr sz="2000" dirty="0" err="1"/>
              <a:t>классификации</a:t>
            </a:r>
            <a:r>
              <a:rPr sz="2000" dirty="0"/>
              <a:t> </a:t>
            </a:r>
            <a:r>
              <a:rPr sz="2000" dirty="0" err="1"/>
              <a:t>применяется</a:t>
            </a:r>
            <a:r>
              <a:rPr sz="2000" dirty="0"/>
              <a:t> </a:t>
            </a:r>
            <a:r>
              <a:rPr sz="2000" dirty="0" err="1"/>
              <a:t>корректная</a:t>
            </a:r>
            <a:r>
              <a:rPr sz="2000" dirty="0"/>
              <a:t> </a:t>
            </a:r>
            <a:r>
              <a:rPr sz="2000" dirty="0" err="1"/>
              <a:t>перекодировка</a:t>
            </a:r>
            <a:r>
              <a:rPr sz="2000" dirty="0"/>
              <a:t> </a:t>
            </a:r>
            <a:r>
              <a:rPr sz="2000" dirty="0" err="1"/>
              <a:t>данных</a:t>
            </a:r>
            <a:r>
              <a:rPr sz="2000" dirty="0"/>
              <a:t>, </a:t>
            </a:r>
            <a:r>
              <a:rPr sz="2000" dirty="0" err="1"/>
              <a:t>что</a:t>
            </a:r>
            <a:r>
              <a:rPr sz="2000" dirty="0"/>
              <a:t> </a:t>
            </a:r>
            <a:r>
              <a:rPr sz="2000" dirty="0" err="1"/>
              <a:t>приводит</a:t>
            </a:r>
            <a:r>
              <a:rPr sz="2000" dirty="0"/>
              <a:t> </a:t>
            </a:r>
            <a:r>
              <a:rPr sz="2000" dirty="0" err="1"/>
              <a:t>к</a:t>
            </a:r>
            <a:r>
              <a:rPr sz="2000" dirty="0"/>
              <a:t> </a:t>
            </a:r>
            <a:r>
              <a:rPr sz="2000" dirty="0" err="1"/>
              <a:t>дополнительным</a:t>
            </a:r>
            <a:r>
              <a:rPr sz="2000" dirty="0"/>
              <a:t> </a:t>
            </a:r>
            <a:r>
              <a:rPr sz="2000" dirty="0" err="1"/>
              <a:t>вычислительным</a:t>
            </a:r>
            <a:r>
              <a:rPr sz="2000" dirty="0"/>
              <a:t> </a:t>
            </a:r>
            <a:r>
              <a:rPr sz="2000" dirty="0" err="1"/>
              <a:t>затратам</a:t>
            </a:r>
            <a:r>
              <a:rPr sz="2000" dirty="0"/>
              <a:t>.</a:t>
            </a:r>
          </a:p>
          <a:p>
            <a:endParaRP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Предыдущие результаты для Drosophila melanogaster</a:t>
            </a:r>
            <a:endParaRPr lang="en-US" sz="17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396120" y="6519672"/>
            <a:ext cx="1537568"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6</a:t>
            </a:r>
            <a:endParaRPr lang="en-US" sz="2400" dirty="0"/>
          </a:p>
        </p:txBody>
      </p:sp>
      <p:sp>
        <p:nvSpPr>
          <p:cNvPr id="5" name="Text 3"/>
          <p:cNvSpPr/>
          <p:nvPr/>
        </p:nvSpPr>
        <p:spPr>
          <a:xfrm>
            <a:off x="822960" y="777240"/>
            <a:ext cx="7498080" cy="777240"/>
          </a:xfrm>
          <a:prstGeom prst="rect">
            <a:avLst/>
          </a:prstGeom>
          <a:noFill/>
          <a:ln/>
        </p:spPr>
        <p:txBody>
          <a:bodyPr wrap="square" lIns="254" tIns="254" rIns="254" bIns="254" rtlCol="0" anchor="ctr"/>
          <a:lstStyle/>
          <a:p>
            <a:pPr marL="0" indent="0" algn="ctr">
              <a:buNone/>
            </a:pPr>
            <a:r>
              <a:rPr lang="ru-RU" sz="2000" dirty="0"/>
              <a:t>Статья</a:t>
            </a:r>
            <a:r>
              <a:rPr lang="en-US" sz="2000" dirty="0"/>
              <a:t>:</a:t>
            </a:r>
            <a:r>
              <a:rPr lang="ru-RU" sz="2000" dirty="0"/>
              <a:t> </a:t>
            </a:r>
            <a:r>
              <a:rPr sz="2000" dirty="0"/>
              <a:t>«</a:t>
            </a:r>
            <a:r>
              <a:rPr sz="2000" dirty="0" err="1"/>
              <a:t>Распознавание</a:t>
            </a:r>
            <a:r>
              <a:rPr sz="2000" dirty="0"/>
              <a:t> </a:t>
            </a:r>
            <a:r>
              <a:rPr sz="2000" dirty="0" err="1"/>
              <a:t>особых</a:t>
            </a:r>
            <a:r>
              <a:rPr sz="2000" dirty="0"/>
              <a:t> </a:t>
            </a:r>
            <a:r>
              <a:rPr sz="2000" dirty="0" err="1"/>
              <a:t>участков</a:t>
            </a:r>
            <a:r>
              <a:rPr sz="2000" dirty="0"/>
              <a:t> </a:t>
            </a:r>
            <a:r>
              <a:rPr sz="2000" dirty="0" err="1"/>
              <a:t>генома</a:t>
            </a:r>
            <a:r>
              <a:rPr sz="2000" dirty="0"/>
              <a:t> </a:t>
            </a:r>
            <a:r>
              <a:rPr sz="2000" dirty="0" err="1"/>
              <a:t>методами</a:t>
            </a:r>
            <a:r>
              <a:rPr sz="2000" dirty="0"/>
              <a:t> </a:t>
            </a:r>
            <a:r>
              <a:rPr sz="2000" dirty="0" err="1"/>
              <a:t>машинного</a:t>
            </a:r>
            <a:r>
              <a:rPr sz="2000" dirty="0"/>
              <a:t> </a:t>
            </a:r>
            <a:r>
              <a:rPr sz="2000" dirty="0" err="1"/>
              <a:t>обучения</a:t>
            </a:r>
            <a:r>
              <a:rPr sz="2000" dirty="0"/>
              <a:t>»</a:t>
            </a:r>
            <a:endParaRPr lang="en-US" sz="2000" dirty="0"/>
          </a:p>
        </p:txBody>
      </p:sp>
      <p:sp>
        <p:nvSpPr>
          <p:cNvPr id="6" name="Text 4"/>
          <p:cNvSpPr/>
          <p:nvPr/>
        </p:nvSpPr>
        <p:spPr>
          <a:xfrm>
            <a:off x="914400" y="1600200"/>
            <a:ext cx="2194560" cy="50292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Классификатор</a:t>
            </a:r>
            <a:endParaRPr lang="en-US" sz="1350" dirty="0"/>
          </a:p>
        </p:txBody>
      </p:sp>
      <p:sp>
        <p:nvSpPr>
          <p:cNvPr id="7" name="Text 5"/>
          <p:cNvSpPr/>
          <p:nvPr/>
        </p:nvSpPr>
        <p:spPr>
          <a:xfrm>
            <a:off x="3108960" y="1600200"/>
            <a:ext cx="2331720" cy="50292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k-меры</a:t>
            </a:r>
            <a:endParaRPr lang="en-US" sz="1350" dirty="0"/>
          </a:p>
        </p:txBody>
      </p:sp>
      <p:sp>
        <p:nvSpPr>
          <p:cNvPr id="8" name="Text 6"/>
          <p:cNvSpPr/>
          <p:nvPr/>
        </p:nvSpPr>
        <p:spPr>
          <a:xfrm>
            <a:off x="5440680" y="1600200"/>
            <a:ext cx="1874520" cy="502920"/>
          </a:xfrm>
          <a:prstGeom prst="rect">
            <a:avLst/>
          </a:prstGeom>
          <a:solidFill>
            <a:srgbClr val="F4F4F4"/>
          </a:solidFill>
          <a:ln w="12700">
            <a:solidFill>
              <a:srgbClr val="C9C9C9"/>
            </a:solidFill>
          </a:ln>
        </p:spPr>
        <p:txBody>
          <a:bodyPr wrap="square" lIns="1016" tIns="1016" rIns="1016" bIns="1016" rtlCol="0" anchor="ctr">
            <a:normAutofit lnSpcReduction="10000"/>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прямое применение</a:t>
            </a:r>
            <a:endParaRPr lang="en-US" sz="1350" dirty="0"/>
          </a:p>
        </p:txBody>
      </p:sp>
      <p:sp>
        <p:nvSpPr>
          <p:cNvPr id="9" name="Text 7"/>
          <p:cNvSpPr/>
          <p:nvPr/>
        </p:nvSpPr>
        <p:spPr>
          <a:xfrm>
            <a:off x="914400" y="2103120"/>
            <a:ext cx="2194560" cy="621792"/>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REC</a:t>
            </a:r>
            <a:endParaRPr lang="en-US" sz="1400" dirty="0"/>
          </a:p>
        </p:txBody>
      </p:sp>
      <p:sp>
        <p:nvSpPr>
          <p:cNvPr id="10" name="Text 8"/>
          <p:cNvSpPr/>
          <p:nvPr/>
        </p:nvSpPr>
        <p:spPr>
          <a:xfrm>
            <a:off x="3108960" y="2103120"/>
            <a:ext cx="2331720" cy="621792"/>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0,904</a:t>
            </a:r>
            <a:endParaRPr lang="en-US" sz="1400" dirty="0"/>
          </a:p>
        </p:txBody>
      </p:sp>
      <p:sp>
        <p:nvSpPr>
          <p:cNvPr id="11" name="Text 9"/>
          <p:cNvSpPr/>
          <p:nvPr/>
        </p:nvSpPr>
        <p:spPr>
          <a:xfrm>
            <a:off x="5440680" y="2103120"/>
            <a:ext cx="1874520" cy="621792"/>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0,943</a:t>
            </a:r>
            <a:endParaRPr lang="en-US" sz="1400" dirty="0"/>
          </a:p>
        </p:txBody>
      </p:sp>
      <p:sp>
        <p:nvSpPr>
          <p:cNvPr id="12" name="Text 10"/>
          <p:cNvSpPr/>
          <p:nvPr/>
        </p:nvSpPr>
        <p:spPr>
          <a:xfrm>
            <a:off x="914400" y="2816352"/>
            <a:ext cx="2194560" cy="621792"/>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Catboost</a:t>
            </a:r>
            <a:endParaRPr lang="en-US" sz="1400" dirty="0"/>
          </a:p>
        </p:txBody>
      </p:sp>
      <p:sp>
        <p:nvSpPr>
          <p:cNvPr id="13" name="Text 11"/>
          <p:cNvSpPr/>
          <p:nvPr/>
        </p:nvSpPr>
        <p:spPr>
          <a:xfrm>
            <a:off x="3108960" y="2816352"/>
            <a:ext cx="2331720" cy="621792"/>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0,948</a:t>
            </a:r>
            <a:endParaRPr lang="en-US" sz="1400" dirty="0"/>
          </a:p>
        </p:txBody>
      </p:sp>
      <p:sp>
        <p:nvSpPr>
          <p:cNvPr id="14" name="Text 12"/>
          <p:cNvSpPr/>
          <p:nvPr/>
        </p:nvSpPr>
        <p:spPr>
          <a:xfrm>
            <a:off x="5440680" y="2816352"/>
            <a:ext cx="1874520" cy="621792"/>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0,951</a:t>
            </a:r>
            <a:endParaRPr lang="en-US" sz="1400" dirty="0"/>
          </a:p>
        </p:txBody>
      </p:sp>
      <p:sp>
        <p:nvSpPr>
          <p:cNvPr id="15" name="Text 13"/>
          <p:cNvSpPr/>
          <p:nvPr/>
        </p:nvSpPr>
        <p:spPr>
          <a:xfrm>
            <a:off x="1325880" y="3886200"/>
            <a:ext cx="6492240" cy="658368"/>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Наилучший результат: Catboost — ROC-AUC 0,951</a:t>
            </a:r>
            <a:endParaRPr lang="en-US" sz="1600" dirty="0"/>
          </a:p>
        </p:txBody>
      </p:sp>
      <p:sp>
        <p:nvSpPr>
          <p:cNvPr id="16" name="Text 14"/>
          <p:cNvSpPr/>
          <p:nvPr/>
        </p:nvSpPr>
        <p:spPr>
          <a:xfrm>
            <a:off x="1280160" y="4846320"/>
            <a:ext cx="6583680" cy="365760"/>
          </a:xfrm>
          <a:prstGeom prst="rect">
            <a:avLst/>
          </a:prstGeom>
          <a:noFill/>
          <a:ln/>
        </p:spPr>
        <p:txBody>
          <a:bodyPr wrap="square" lIns="254" tIns="254" rIns="254" bIns="254" rtlCol="0" anchor="ctr"/>
          <a:lstStyle/>
          <a:p>
            <a:pPr marL="0" indent="0" algn="ctr">
              <a:buNone/>
            </a:pPr>
            <a:r>
              <a:rPr lang="en-US" sz="2000" dirty="0">
                <a:solidFill>
                  <a:srgbClr val="000000"/>
                </a:solidFill>
                <a:latin typeface="Times New Roman" pitchFamily="34" charset="0"/>
                <a:ea typeface="Times New Roman" pitchFamily="34" charset="-122"/>
                <a:cs typeface="Times New Roman" pitchFamily="34" charset="-120"/>
              </a:rPr>
              <a:t>При прямом применении из-за низкой значности признаков качество REC существенно выше: ROC-AUC 0,943.</a:t>
            </a:r>
            <a:endParaRPr lang="en-US" sz="1450" dirty="0"/>
          </a:p>
        </p:txBody>
      </p:sp>
      <p:sp>
        <p:nvSpPr>
          <p:cNvPr id="17" name="Text 15"/>
          <p:cNvSpPr/>
          <p:nvPr/>
        </p:nvSpPr>
        <p:spPr>
          <a:xfrm>
            <a:off x="1005840" y="5394960"/>
            <a:ext cx="7132320" cy="502920"/>
          </a:xfrm>
          <a:prstGeom prst="rect">
            <a:avLst/>
          </a:prstGeom>
          <a:noFill/>
          <a:ln/>
        </p:spPr>
        <p:txBody>
          <a:bodyPr wrap="square" lIns="254" tIns="254" rIns="254" bIns="254" rtlCol="0" anchor="ctr">
            <a:normAutofit lnSpcReduction="10000"/>
          </a:bodyPr>
          <a:lstStyle/>
          <a:p>
            <a:pPr marL="0" indent="0" algn="ctr">
              <a:buNone/>
            </a:pPr>
            <a:r>
              <a:rPr sz="1800"/>
              <a:t>Алгоритмы СЛ, ЛР и LightGB тестировались только с традиционной методикой и существенно уступили Catboost.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sz="2400" b="1" dirty="0" err="1"/>
              <a:t>Логическая</a:t>
            </a:r>
            <a:r>
              <a:rPr sz="2400" b="1" dirty="0"/>
              <a:t> </a:t>
            </a:r>
            <a:r>
              <a:rPr sz="2400" b="1" dirty="0" err="1"/>
              <a:t>нейросеть</a:t>
            </a:r>
            <a:r>
              <a:rPr sz="2400" b="1" dirty="0"/>
              <a:t> LAD_NN</a:t>
            </a:r>
            <a:endParaRPr lang="en-US" sz="17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703618" y="6519672"/>
            <a:ext cx="1230070"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7</a:t>
            </a:r>
            <a:endParaRPr lang="en-US" sz="2400" dirty="0"/>
          </a:p>
        </p:txBody>
      </p:sp>
      <p:sp>
        <p:nvSpPr>
          <p:cNvPr id="5" name="Text 3"/>
          <p:cNvSpPr/>
          <p:nvPr/>
        </p:nvSpPr>
        <p:spPr>
          <a:xfrm>
            <a:off x="640080" y="1519033"/>
            <a:ext cx="7863840" cy="3634740"/>
          </a:xfrm>
          <a:prstGeom prst="rect">
            <a:avLst/>
          </a:prstGeom>
          <a:noFill/>
          <a:ln/>
        </p:spPr>
        <p:txBody>
          <a:bodyPr wrap="square" lIns="762" tIns="762" rIns="762" bIns="762" rtlCol="0" anchor="t">
            <a:normAutofit/>
          </a:bodyPr>
          <a:lstStyle/>
          <a:p>
            <a:pPr marL="0" indent="0" algn="ctr">
              <a:spcAft>
                <a:spcPts val="650"/>
              </a:spcAft>
            </a:pPr>
            <a:r>
              <a:rPr lang="ru-RU" sz="2000" b="1" dirty="0">
                <a:latin typeface="Times New Roman"/>
                <a:ea typeface="Times New Roman"/>
                <a:cs typeface="Times New Roman"/>
              </a:rPr>
              <a:t>Принцип работы LAD_NN</a:t>
            </a:r>
            <a:endParaRPr lang="ru-RU" sz="2000" dirty="0"/>
          </a:p>
          <a:p>
            <a:pPr marL="0" indent="0">
              <a:spcAft>
                <a:spcPts val="400"/>
              </a:spcAft>
            </a:pPr>
            <a:r>
              <a:rPr lang="ru-RU" sz="1700" dirty="0">
                <a:latin typeface="Times New Roman"/>
                <a:ea typeface="Times New Roman"/>
                <a:cs typeface="Times New Roman"/>
              </a:rPr>
              <a:t>1. </a:t>
            </a:r>
            <a:r>
              <a:rPr lang="ru-RU" sz="2000" dirty="0">
                <a:latin typeface="Times New Roman"/>
                <a:ea typeface="Times New Roman"/>
                <a:cs typeface="Times New Roman"/>
              </a:rPr>
              <a:t>Для каждого класса </a:t>
            </a:r>
            <a:r>
              <a:rPr lang="ru-RU" sz="2000" dirty="0" err="1">
                <a:latin typeface="Times New Roman"/>
                <a:ea typeface="Times New Roman"/>
                <a:cs typeface="Times New Roman"/>
              </a:rPr>
              <a:t>K</a:t>
            </a:r>
            <a:r>
              <a:rPr lang="ru-RU" sz="2000" dirty="0">
                <a:latin typeface="Times New Roman"/>
                <a:ea typeface="Times New Roman"/>
                <a:cs typeface="Times New Roman"/>
              </a:rPr>
              <a:t> строится отдельная нейронная сеть.</a:t>
            </a:r>
            <a:endParaRPr lang="ru-RU" sz="2000" dirty="0"/>
          </a:p>
          <a:p>
            <a:pPr marL="0" indent="0">
              <a:spcAft>
                <a:spcPts val="400"/>
              </a:spcAft>
            </a:pPr>
            <a:r>
              <a:rPr lang="ru-RU" sz="2000" dirty="0">
                <a:latin typeface="Times New Roman"/>
                <a:ea typeface="Times New Roman"/>
                <a:cs typeface="Times New Roman"/>
              </a:rPr>
              <a:t>2. Вход задаётся системой булевых уравнений; их левые части представлены конъюнктивными нормальными формами.</a:t>
            </a:r>
            <a:endParaRPr lang="ru-RU" sz="2000" dirty="0"/>
          </a:p>
          <a:p>
            <a:pPr marL="0" indent="0">
              <a:spcAft>
                <a:spcPts val="400"/>
              </a:spcAft>
            </a:pPr>
            <a:r>
              <a:rPr lang="ru-RU" sz="2000" dirty="0">
                <a:latin typeface="Times New Roman"/>
                <a:ea typeface="Times New Roman"/>
                <a:cs typeface="Times New Roman"/>
              </a:rPr>
              <a:t>3. На этапе обучения сеть ищет максимальную совместную подсистему уравнений. Логические блоки аппроксимируют дизъюнкцию, конъюнкцию и отрицание.</a:t>
            </a:r>
            <a:endParaRPr lang="ru-RU" sz="2000" dirty="0"/>
          </a:p>
          <a:p>
            <a:pPr marL="0" indent="0">
              <a:spcAft>
                <a:spcPts val="0"/>
              </a:spcAft>
            </a:pPr>
            <a:r>
              <a:rPr lang="ru-RU" sz="2000" dirty="0">
                <a:latin typeface="Times New Roman"/>
                <a:ea typeface="Times New Roman"/>
                <a:cs typeface="Times New Roman"/>
              </a:rPr>
              <a:t>4. Максимальные логические закономерности класса </a:t>
            </a:r>
            <a:r>
              <a:rPr lang="ru-RU" sz="2000" dirty="0" err="1">
                <a:latin typeface="Times New Roman"/>
                <a:ea typeface="Times New Roman"/>
                <a:cs typeface="Times New Roman"/>
              </a:rPr>
              <a:t>K</a:t>
            </a:r>
            <a:r>
              <a:rPr lang="ru-RU" sz="2000" dirty="0">
                <a:latin typeface="Times New Roman"/>
                <a:ea typeface="Times New Roman"/>
                <a:cs typeface="Times New Roman"/>
              </a:rPr>
              <a:t> — представительные ЭК, содержащиеся в наибольшем числе прецедентов этого класса. По ним выполняется классификация.</a:t>
            </a:r>
            <a:endParaRPr lang="ru-RU" sz="2000" dirty="0"/>
          </a:p>
        </p:txBody>
      </p:sp>
      <p:sp>
        <p:nvSpPr>
          <p:cNvPr id="6" name="Text 4"/>
          <p:cNvSpPr/>
          <p:nvPr/>
        </p:nvSpPr>
        <p:spPr>
          <a:xfrm>
            <a:off x="3291840" y="4937760"/>
            <a:ext cx="2560320" cy="548640"/>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sz="2400" b="1"/>
              <a:t>LAD_NN</a:t>
            </a:r>
            <a:endParaRPr lang="en-US" sz="1900" dirty="0"/>
          </a:p>
        </p:txBody>
      </p:sp>
      <p:sp>
        <p:nvSpPr>
          <p:cNvPr id="7" name="Text 5"/>
          <p:cNvSpPr/>
          <p:nvPr/>
        </p:nvSpPr>
        <p:spPr>
          <a:xfrm>
            <a:off x="731520" y="5554980"/>
            <a:ext cx="7680960" cy="822960"/>
          </a:xfrm>
          <a:prstGeom prst="rect">
            <a:avLst/>
          </a:prstGeom>
          <a:noFill/>
          <a:ln/>
        </p:spPr>
        <p:txBody>
          <a:bodyPr wrap="square" lIns="254" tIns="254" rIns="254" bIns="254" rtlCol="0" anchor="ctr">
            <a:normAutofit lnSpcReduction="10000"/>
          </a:bodyPr>
          <a:lstStyle/>
          <a:p>
            <a:pPr marL="0" indent="0" algn="ctr">
              <a:buNone/>
            </a:pPr>
            <a:r>
              <a:rPr sz="1900" dirty="0" err="1"/>
              <a:t>На</a:t>
            </a:r>
            <a:r>
              <a:rPr sz="1900" dirty="0"/>
              <a:t> </a:t>
            </a:r>
            <a:r>
              <a:rPr sz="1900" dirty="0" err="1"/>
              <a:t>реальных</a:t>
            </a:r>
            <a:r>
              <a:rPr sz="1900" dirty="0"/>
              <a:t> </a:t>
            </a:r>
            <a:r>
              <a:rPr sz="1900" dirty="0" err="1"/>
              <a:t>данных</a:t>
            </a:r>
            <a:r>
              <a:rPr sz="1900" dirty="0"/>
              <a:t> </a:t>
            </a:r>
            <a:r>
              <a:rPr sz="1900" dirty="0" err="1"/>
              <a:t>из</a:t>
            </a:r>
            <a:r>
              <a:rPr sz="1900" dirty="0"/>
              <a:t> </a:t>
            </a:r>
            <a:r>
              <a:rPr sz="1900" dirty="0" err="1"/>
              <a:t>репозитория</a:t>
            </a:r>
            <a:r>
              <a:rPr sz="1900" dirty="0"/>
              <a:t> UCI LAD_NN </a:t>
            </a:r>
            <a:r>
              <a:rPr sz="1900" dirty="0" err="1"/>
              <a:t>сравнивалась</a:t>
            </a:r>
            <a:r>
              <a:rPr sz="1900" dirty="0"/>
              <a:t> </a:t>
            </a:r>
            <a:r>
              <a:rPr sz="1900" dirty="0" err="1"/>
              <a:t>с</a:t>
            </a:r>
            <a:r>
              <a:rPr sz="1900" dirty="0"/>
              <a:t> MLP </a:t>
            </a:r>
            <a:r>
              <a:rPr sz="1900" dirty="0" err="1"/>
              <a:t>и</a:t>
            </a:r>
            <a:r>
              <a:rPr sz="1900" dirty="0"/>
              <a:t> </a:t>
            </a:r>
            <a:r>
              <a:rPr sz="1900" dirty="0" err="1"/>
              <a:t>сверточной</a:t>
            </a:r>
            <a:r>
              <a:rPr sz="1900" dirty="0"/>
              <a:t> </a:t>
            </a:r>
            <a:r>
              <a:rPr sz="1900" dirty="0" err="1"/>
              <a:t>сетью</a:t>
            </a:r>
            <a:r>
              <a:rPr sz="1900" dirty="0"/>
              <a:t>. </a:t>
            </a:r>
            <a:r>
              <a:rPr sz="1900" dirty="0" err="1"/>
              <a:t>Показано</a:t>
            </a:r>
            <a:r>
              <a:rPr sz="1900" dirty="0"/>
              <a:t> </a:t>
            </a:r>
            <a:r>
              <a:rPr sz="1900" dirty="0" err="1"/>
              <a:t>качество</a:t>
            </a:r>
            <a:r>
              <a:rPr sz="1900" dirty="0"/>
              <a:t>, </a:t>
            </a:r>
            <a:r>
              <a:rPr sz="1900" dirty="0" err="1"/>
              <a:t>сопоставимое</a:t>
            </a:r>
            <a:r>
              <a:rPr sz="1900" dirty="0"/>
              <a:t> </a:t>
            </a:r>
            <a:r>
              <a:rPr sz="1900" dirty="0" err="1"/>
              <a:t>с</a:t>
            </a:r>
            <a:r>
              <a:rPr sz="1900" dirty="0"/>
              <a:t> </a:t>
            </a:r>
            <a:r>
              <a:rPr sz="1900" dirty="0" err="1"/>
              <a:t>традиционными</a:t>
            </a:r>
            <a:r>
              <a:rPr sz="1900" dirty="0"/>
              <a:t> </a:t>
            </a:r>
            <a:r>
              <a:rPr sz="1900" dirty="0" err="1"/>
              <a:t>нейросетевыми</a:t>
            </a:r>
            <a:r>
              <a:rPr sz="1900" dirty="0"/>
              <a:t> </a:t>
            </a:r>
            <a:r>
              <a:rPr sz="1900" dirty="0" err="1"/>
              <a:t>подходами</a:t>
            </a:r>
            <a:r>
              <a:rPr sz="1900" dirty="0"/>
              <a:t>.</a:t>
            </a:r>
            <a:endParaRPr lang="en-US" sz="1350" dirty="0"/>
          </a:p>
        </p:txBody>
      </p:sp>
      <p:sp>
        <p:nvSpPr>
          <p:cNvPr id="8" name="Article title"/>
          <p:cNvSpPr/>
          <p:nvPr/>
        </p:nvSpPr>
        <p:spPr>
          <a:xfrm>
            <a:off x="594360" y="908685"/>
            <a:ext cx="7955280" cy="365760"/>
          </a:xfrm>
          <a:prstGeom prst="rect">
            <a:avLst/>
          </a:prstGeom>
          <a:noFill/>
          <a:ln/>
        </p:spPr>
        <p:txBody>
          <a:bodyPr wrap="square" lIns="254" tIns="254" rIns="254" bIns="254" rtlCol="0" anchor="ctr">
            <a:noAutofit/>
          </a:bodyPr>
          <a:lstStyle/>
          <a:p>
            <a:pPr marL="0" indent="0" algn="ctr">
              <a:buNone/>
            </a:pPr>
            <a:r>
              <a:rPr sz="2000" b="0" dirty="0" err="1"/>
              <a:t>Статья</a:t>
            </a:r>
            <a:r>
              <a:rPr sz="2000" b="0" dirty="0"/>
              <a:t>: «Logical Data Analysis and Classification: Traditional and Neural Network Approaches»</a:t>
            </a:r>
            <a:endParaRPr lang="en-US" sz="2000" b="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Цель работы</a:t>
            </a:r>
            <a:endParaRPr lang="en-US" sz="17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695526" y="6519671"/>
            <a:ext cx="1238162" cy="212901"/>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8</a:t>
            </a:r>
            <a:endParaRPr lang="en-US" sz="2400" dirty="0"/>
          </a:p>
        </p:txBody>
      </p:sp>
      <p:sp>
        <p:nvSpPr>
          <p:cNvPr id="6" name="Text 4"/>
          <p:cNvSpPr/>
          <p:nvPr/>
        </p:nvSpPr>
        <p:spPr>
          <a:xfrm>
            <a:off x="3154680" y="1488563"/>
            <a:ext cx="1234440" cy="731520"/>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MLP</a:t>
            </a:r>
            <a:endParaRPr lang="en-US" sz="1700" dirty="0"/>
          </a:p>
        </p:txBody>
      </p:sp>
      <p:sp>
        <p:nvSpPr>
          <p:cNvPr id="7" name="Text 5"/>
          <p:cNvSpPr/>
          <p:nvPr/>
        </p:nvSpPr>
        <p:spPr>
          <a:xfrm>
            <a:off x="4754882" y="1488563"/>
            <a:ext cx="1417320" cy="731520"/>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LAD_NN</a:t>
            </a:r>
            <a:endParaRPr lang="en-US" sz="1700" dirty="0"/>
          </a:p>
        </p:txBody>
      </p:sp>
      <p:sp>
        <p:nvSpPr>
          <p:cNvPr id="9" name="Text 7"/>
          <p:cNvSpPr/>
          <p:nvPr/>
        </p:nvSpPr>
        <p:spPr>
          <a:xfrm>
            <a:off x="1051560" y="2514600"/>
            <a:ext cx="7040880" cy="365760"/>
          </a:xfrm>
          <a:prstGeom prst="rect">
            <a:avLst/>
          </a:prstGeom>
          <a:noFill/>
          <a:ln/>
        </p:spPr>
        <p:txBody>
          <a:bodyPr wrap="square" lIns="254" tIns="254" rIns="254" bIns="254" rtlCol="0" anchor="ctr"/>
          <a:lstStyle/>
          <a:p>
            <a:pPr marL="0" indent="0" algn="ctr">
              <a:buNone/>
            </a:pPr>
            <a:r>
              <a:rPr sz="2000" b="1"/>
              <a:t>Две методики формирования признакового пространства</a:t>
            </a:r>
            <a:endParaRPr lang="en-US" sz="1600" dirty="0"/>
          </a:p>
        </p:txBody>
      </p:sp>
      <p:sp>
        <p:nvSpPr>
          <p:cNvPr id="10" name="Text 8"/>
          <p:cNvSpPr/>
          <p:nvPr/>
        </p:nvSpPr>
        <p:spPr>
          <a:xfrm>
            <a:off x="1234440" y="3154680"/>
            <a:ext cx="2834640" cy="960120"/>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способ 1</a:t>
            </a:r>
            <a:endParaRPr lang="en-US" sz="1600" dirty="0"/>
          </a:p>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k-меры</a:t>
            </a:r>
            <a:endParaRPr lang="en-US" sz="1600" dirty="0"/>
          </a:p>
        </p:txBody>
      </p:sp>
      <p:sp>
        <p:nvSpPr>
          <p:cNvPr id="11" name="Text 9"/>
          <p:cNvSpPr/>
          <p:nvPr/>
        </p:nvSpPr>
        <p:spPr>
          <a:xfrm>
            <a:off x="5074920" y="3154680"/>
            <a:ext cx="2834640" cy="960120"/>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способ 2</a:t>
            </a:r>
            <a:endParaRPr lang="en-US" sz="1500" dirty="0"/>
          </a:p>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прямое применение к исходной выборке</a:t>
            </a:r>
            <a:endParaRPr lang="en-US" sz="1500" dirty="0"/>
          </a:p>
        </p:txBody>
      </p:sp>
      <p:sp>
        <p:nvSpPr>
          <p:cNvPr id="12" name="Text 10"/>
          <p:cNvSpPr/>
          <p:nvPr/>
        </p:nvSpPr>
        <p:spPr>
          <a:xfrm>
            <a:off x="1965960" y="4983480"/>
            <a:ext cx="5212080" cy="68580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показатель качества классификации: ROC-AUC</a:t>
            </a:r>
            <a:endParaRPr lang="en-US" sz="1550" dirty="0"/>
          </a:p>
        </p:txBody>
      </p:sp>
      <p:sp>
        <p:nvSpPr>
          <p:cNvPr id="13" name="Text 11"/>
          <p:cNvSpPr/>
          <p:nvPr/>
        </p:nvSpPr>
        <p:spPr>
          <a:xfrm>
            <a:off x="1371600" y="4206240"/>
            <a:ext cx="6400800" cy="365760"/>
          </a:xfrm>
          <a:prstGeom prst="rect">
            <a:avLst/>
          </a:prstGeom>
          <a:noFill/>
          <a:ln/>
        </p:spPr>
        <p:txBody>
          <a:bodyPr wrap="square" lIns="254" tIns="254" rIns="254" bIns="254" rtlCol="0" anchor="ctr"/>
          <a:lstStyle/>
          <a:p>
            <a:pPr marL="0" indent="0" algn="ctr">
              <a:buNone/>
            </a:pPr>
            <a:r>
              <a:rPr sz="1700" b="0"/>
              <a:t>k-мер — подстрока длины k в символьной последовательности ДНК.</a:t>
            </a:r>
            <a:endParaRPr lang="en-US" sz="1700" b="0" dirty="0"/>
          </a:p>
        </p:txBody>
      </p:sp>
      <p:sp>
        <p:nvSpPr>
          <p:cNvPr id="14" name="Data source article"/>
          <p:cNvSpPr/>
          <p:nvPr/>
        </p:nvSpPr>
        <p:spPr>
          <a:xfrm>
            <a:off x="594360" y="821855"/>
            <a:ext cx="7955280" cy="365760"/>
          </a:xfrm>
          <a:prstGeom prst="rect">
            <a:avLst/>
          </a:prstGeom>
          <a:noFill/>
          <a:ln/>
        </p:spPr>
        <p:txBody>
          <a:bodyPr wrap="square" lIns="254" tIns="254" rIns="254" bIns="254" rtlCol="0" anchor="ctr"/>
          <a:lstStyle/>
          <a:p>
            <a:pPr marL="0" indent="0" algn="ctr">
              <a:buNone/>
            </a:pPr>
            <a:r>
              <a:rPr lang="ru-RU" sz="2000" b="0" dirty="0"/>
              <a:t>Статья</a:t>
            </a:r>
            <a:r>
              <a:rPr lang="en-US" sz="2000" b="0" dirty="0"/>
              <a:t>: </a:t>
            </a:r>
            <a:r>
              <a:rPr sz="2000" b="0" dirty="0"/>
              <a:t>«</a:t>
            </a:r>
            <a:r>
              <a:rPr sz="2000" b="0" dirty="0" err="1"/>
              <a:t>Распознавание</a:t>
            </a:r>
            <a:r>
              <a:rPr sz="2000" b="0" dirty="0"/>
              <a:t> </a:t>
            </a:r>
            <a:r>
              <a:rPr sz="2000" b="0" dirty="0" err="1"/>
              <a:t>особых</a:t>
            </a:r>
            <a:r>
              <a:rPr sz="2000" b="0" dirty="0"/>
              <a:t> </a:t>
            </a:r>
            <a:r>
              <a:rPr sz="2000" b="0" dirty="0" err="1"/>
              <a:t>участков</a:t>
            </a:r>
            <a:r>
              <a:rPr sz="2000" b="0" dirty="0"/>
              <a:t> </a:t>
            </a:r>
            <a:r>
              <a:rPr sz="2000" b="0" dirty="0" err="1"/>
              <a:t>генома</a:t>
            </a:r>
            <a:r>
              <a:rPr sz="2000" b="0" dirty="0"/>
              <a:t> </a:t>
            </a:r>
            <a:r>
              <a:rPr sz="2000" b="0" dirty="0" err="1"/>
              <a:t>методами</a:t>
            </a:r>
            <a:r>
              <a:rPr sz="2000" b="0" dirty="0"/>
              <a:t> </a:t>
            </a:r>
            <a:r>
              <a:rPr sz="2000" b="0" dirty="0" err="1"/>
              <a:t>машинного</a:t>
            </a:r>
            <a:r>
              <a:rPr sz="2000" b="0" dirty="0"/>
              <a:t> </a:t>
            </a:r>
            <a:r>
              <a:rPr sz="2000" b="0" dirty="0" err="1"/>
              <a:t>обучения</a:t>
            </a:r>
            <a:r>
              <a:rPr sz="2000" b="0" dirty="0"/>
              <a:t>»</a:t>
            </a:r>
            <a:endParaRPr lang="en-US" sz="2000" b="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160020"/>
            <a:ext cx="7955280" cy="685800"/>
          </a:xfrm>
          <a:prstGeom prst="rect">
            <a:avLst/>
          </a:prstGeom>
          <a:noFill/>
          <a:ln/>
        </p:spPr>
        <p:txBody>
          <a:bodyPr wrap="square" lIns="254" tIns="254" rIns="254" bIns="254" rtlCol="0" anchor="ctr">
            <a:noAutofit/>
          </a:bodyP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Результаты экспериментов</a:t>
            </a:r>
            <a:br>
              <a:rPr lang="en-US" sz="2400" b="1" dirty="0">
                <a:solidFill>
                  <a:srgbClr val="000000"/>
                </a:solidFill>
                <a:latin typeface="Times New Roman" pitchFamily="34" charset="0"/>
                <a:ea typeface="Times New Roman" pitchFamily="34" charset="-122"/>
                <a:cs typeface="Times New Roman" pitchFamily="34" charset="-120"/>
              </a:rPr>
            </a:br>
            <a:r>
              <a:rPr lang="en-US" sz="2400" b="1" dirty="0">
                <a:solidFill>
                  <a:srgbClr val="000000"/>
                </a:solidFill>
                <a:latin typeface="Times New Roman" pitchFamily="34" charset="0"/>
                <a:ea typeface="Times New Roman" pitchFamily="34" charset="-122"/>
                <a:cs typeface="Times New Roman" pitchFamily="34" charset="-120"/>
              </a:rPr>
              <a:t>(способ 1 формирования признакового пространства)</a:t>
            </a:r>
            <a:endParaRPr lang="en-US" sz="24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663158" y="6519672"/>
            <a:ext cx="1270530"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9</a:t>
            </a:r>
            <a:endParaRPr lang="en-US" sz="2400" dirty="0"/>
          </a:p>
        </p:txBody>
      </p:sp>
      <p:sp>
        <p:nvSpPr>
          <p:cNvPr id="5" name="Text 3"/>
          <p:cNvSpPr/>
          <p:nvPr/>
        </p:nvSpPr>
        <p:spPr>
          <a:xfrm>
            <a:off x="914400" y="960120"/>
            <a:ext cx="7315200" cy="365760"/>
          </a:xfrm>
          <a:prstGeom prst="rect">
            <a:avLst/>
          </a:prstGeom>
          <a:noFill/>
          <a:ln/>
        </p:spPr>
        <p:txBody>
          <a:bodyPr wrap="square" lIns="254" tIns="254" rIns="254" bIns="254"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Формирование признакового пространства: k-меры</a:t>
            </a:r>
            <a:endParaRPr lang="en-US" sz="1500" dirty="0"/>
          </a:p>
        </p:txBody>
      </p:sp>
      <p:sp>
        <p:nvSpPr>
          <p:cNvPr id="6" name="Text 4"/>
          <p:cNvSpPr/>
          <p:nvPr/>
        </p:nvSpPr>
        <p:spPr>
          <a:xfrm>
            <a:off x="1078992" y="1600200"/>
            <a:ext cx="3246120" cy="566928"/>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Нейросеть</a:t>
            </a:r>
            <a:endParaRPr lang="en-US" sz="1350" dirty="0"/>
          </a:p>
        </p:txBody>
      </p:sp>
      <p:sp>
        <p:nvSpPr>
          <p:cNvPr id="7" name="Text 5"/>
          <p:cNvSpPr/>
          <p:nvPr/>
        </p:nvSpPr>
        <p:spPr>
          <a:xfrm>
            <a:off x="4325112" y="1600200"/>
            <a:ext cx="1874520" cy="566928"/>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базовая</a:t>
            </a:r>
            <a:endParaRPr lang="en-US" sz="1350" dirty="0"/>
          </a:p>
        </p:txBody>
      </p:sp>
      <p:sp>
        <p:nvSpPr>
          <p:cNvPr id="8" name="Text 6"/>
          <p:cNvSpPr/>
          <p:nvPr/>
        </p:nvSpPr>
        <p:spPr>
          <a:xfrm>
            <a:off x="6199632" y="1600200"/>
            <a:ext cx="1874520" cy="566928"/>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с подбором гиперпараметров</a:t>
            </a:r>
            <a:endParaRPr lang="en-US" sz="1350" dirty="0"/>
          </a:p>
        </p:txBody>
      </p:sp>
      <p:sp>
        <p:nvSpPr>
          <p:cNvPr id="9" name="Text 7"/>
          <p:cNvSpPr/>
          <p:nvPr/>
        </p:nvSpPr>
        <p:spPr>
          <a:xfrm>
            <a:off x="1078992" y="2167128"/>
            <a:ext cx="3246120" cy="658368"/>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MLP</a:t>
            </a:r>
            <a:endParaRPr lang="en-US" sz="1500" dirty="0"/>
          </a:p>
        </p:txBody>
      </p:sp>
      <p:sp>
        <p:nvSpPr>
          <p:cNvPr id="10" name="Text 8"/>
          <p:cNvSpPr/>
          <p:nvPr/>
        </p:nvSpPr>
        <p:spPr>
          <a:xfrm>
            <a:off x="4325112" y="2167128"/>
            <a:ext cx="1874520" cy="658368"/>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0,950</a:t>
            </a:r>
            <a:endParaRPr lang="en-US" sz="1600" dirty="0"/>
          </a:p>
        </p:txBody>
      </p:sp>
      <p:sp>
        <p:nvSpPr>
          <p:cNvPr id="11" name="Text 9"/>
          <p:cNvSpPr/>
          <p:nvPr/>
        </p:nvSpPr>
        <p:spPr>
          <a:xfrm>
            <a:off x="6199632" y="2167128"/>
            <a:ext cx="1874520" cy="658368"/>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0,963</a:t>
            </a:r>
            <a:endParaRPr lang="en-US" sz="1600" dirty="0"/>
          </a:p>
        </p:txBody>
      </p:sp>
      <p:sp>
        <p:nvSpPr>
          <p:cNvPr id="12" name="Text 10"/>
          <p:cNvSpPr/>
          <p:nvPr/>
        </p:nvSpPr>
        <p:spPr>
          <a:xfrm>
            <a:off x="1078992" y="2944368"/>
            <a:ext cx="3246120" cy="658368"/>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LAD_NN</a:t>
            </a:r>
            <a:endParaRPr lang="en-US" sz="1500" dirty="0"/>
          </a:p>
        </p:txBody>
      </p:sp>
      <p:sp>
        <p:nvSpPr>
          <p:cNvPr id="13" name="Text 11"/>
          <p:cNvSpPr/>
          <p:nvPr/>
        </p:nvSpPr>
        <p:spPr>
          <a:xfrm>
            <a:off x="4325112" y="2944368"/>
            <a:ext cx="1874520" cy="658368"/>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0,857</a:t>
            </a:r>
            <a:endParaRPr lang="en-US" sz="1600" dirty="0"/>
          </a:p>
        </p:txBody>
      </p:sp>
      <p:sp>
        <p:nvSpPr>
          <p:cNvPr id="14" name="Text 12"/>
          <p:cNvSpPr/>
          <p:nvPr/>
        </p:nvSpPr>
        <p:spPr>
          <a:xfrm>
            <a:off x="6199632" y="2944368"/>
            <a:ext cx="1874520" cy="658368"/>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0,910</a:t>
            </a:r>
            <a:endParaRPr lang="en-US" sz="1600" dirty="0"/>
          </a:p>
        </p:txBody>
      </p:sp>
      <p:sp>
        <p:nvSpPr>
          <p:cNvPr id="15" name="Text 13"/>
          <p:cNvSpPr/>
          <p:nvPr/>
        </p:nvSpPr>
        <p:spPr>
          <a:xfrm>
            <a:off x="1325880" y="4114800"/>
            <a:ext cx="6492240" cy="713232"/>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Подбор гиперпараметров важен как для MLP, так и для LAD_NN.</a:t>
            </a:r>
            <a:endParaRPr lang="en-US" sz="1550" dirty="0"/>
          </a:p>
        </p:txBody>
      </p:sp>
      <p:sp>
        <p:nvSpPr>
          <p:cNvPr id="16" name="Text 14"/>
          <p:cNvSpPr/>
          <p:nvPr/>
        </p:nvSpPr>
        <p:spPr>
          <a:xfrm>
            <a:off x="1280160" y="5166360"/>
            <a:ext cx="6583680" cy="411480"/>
          </a:xfrm>
          <a:prstGeom prst="rect">
            <a:avLst/>
          </a:prstGeom>
          <a:noFill/>
          <a:ln/>
        </p:spPr>
        <p:txBody>
          <a:bodyPr wrap="square" lIns="254" tIns="254" rIns="254" bIns="254" rtlCol="0" anchor="ctr"/>
          <a:lstStyle/>
          <a:p>
            <a:pPr marL="0" indent="0" algn="ctr">
              <a:buNone/>
            </a:pPr>
            <a:r>
              <a:rPr lang="en-US" sz="2000" dirty="0">
                <a:solidFill>
                  <a:srgbClr val="000000"/>
                </a:solidFill>
                <a:latin typeface="Times New Roman" pitchFamily="34" charset="0"/>
                <a:ea typeface="Times New Roman" pitchFamily="34" charset="-122"/>
                <a:cs typeface="Times New Roman" pitchFamily="34" charset="-120"/>
              </a:rPr>
              <a:t>MLP: 0,950 → 0,963      LAD_NN: 0,857 → 0,910</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160020"/>
            <a:ext cx="7955280" cy="685800"/>
          </a:xfrm>
          <a:prstGeom prst="rect">
            <a:avLst/>
          </a:prstGeom>
          <a:noFill/>
          <a:ln/>
        </p:spPr>
        <p:txBody>
          <a:bodyPr wrap="square" lIns="254" tIns="254" rIns="254" bIns="254" rtlCol="0" anchor="ctr">
            <a:noAutofit/>
          </a:bodyP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Результаты экспериментов</a:t>
            </a:r>
            <a:br>
              <a:rPr lang="en-US" sz="2400" b="1" dirty="0">
                <a:solidFill>
                  <a:srgbClr val="000000"/>
                </a:solidFill>
                <a:latin typeface="Times New Roman" pitchFamily="34" charset="0"/>
                <a:ea typeface="Times New Roman" pitchFamily="34" charset="-122"/>
                <a:cs typeface="Times New Roman" pitchFamily="34" charset="-120"/>
              </a:rPr>
            </a:br>
            <a:r>
              <a:rPr lang="en-US" sz="2400" b="1" dirty="0">
                <a:solidFill>
                  <a:srgbClr val="000000"/>
                </a:solidFill>
                <a:latin typeface="Times New Roman" pitchFamily="34" charset="0"/>
                <a:ea typeface="Times New Roman" pitchFamily="34" charset="-122"/>
                <a:cs typeface="Times New Roman" pitchFamily="34" charset="-120"/>
              </a:rPr>
              <a:t>(способ 2 формирования признакового пространства)</a:t>
            </a:r>
            <a:endParaRPr lang="en-US" sz="24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655065" y="6519672"/>
            <a:ext cx="1278623"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10</a:t>
            </a:r>
            <a:endParaRPr lang="en-US" sz="2400" dirty="0"/>
          </a:p>
        </p:txBody>
      </p:sp>
      <p:sp>
        <p:nvSpPr>
          <p:cNvPr id="5" name="Text 3"/>
          <p:cNvSpPr/>
          <p:nvPr/>
        </p:nvSpPr>
        <p:spPr>
          <a:xfrm>
            <a:off x="914400" y="960120"/>
            <a:ext cx="7315200" cy="365760"/>
          </a:xfrm>
          <a:prstGeom prst="rect">
            <a:avLst/>
          </a:prstGeom>
          <a:noFill/>
          <a:ln/>
        </p:spPr>
        <p:txBody>
          <a:bodyPr wrap="square" lIns="254" tIns="254" rIns="254" bIns="254"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Прямое применение к исходной выборке</a:t>
            </a:r>
            <a:endParaRPr lang="en-US" sz="1500" dirty="0"/>
          </a:p>
        </p:txBody>
      </p:sp>
      <p:sp>
        <p:nvSpPr>
          <p:cNvPr id="6" name="Text 4"/>
          <p:cNvSpPr/>
          <p:nvPr/>
        </p:nvSpPr>
        <p:spPr>
          <a:xfrm>
            <a:off x="1051560" y="1828800"/>
            <a:ext cx="3200400" cy="1965960"/>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MLP</a:t>
            </a:r>
            <a:endParaRPr lang="en-US" sz="1700" dirty="0"/>
          </a:p>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с подбором гиперпараметров</a:t>
            </a:r>
            <a:endParaRPr lang="en-US" sz="1700" dirty="0"/>
          </a:p>
          <a:p>
            <a:pPr marL="0" indent="0" algn="ctr">
              <a:buNone/>
            </a:pPr>
            <a:endParaRPr lang="en-US" sz="1700" dirty="0"/>
          </a:p>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ROC-AUC = 0,970</a:t>
            </a:r>
            <a:endParaRPr lang="en-US" sz="1700" dirty="0"/>
          </a:p>
        </p:txBody>
      </p:sp>
      <p:sp>
        <p:nvSpPr>
          <p:cNvPr id="7" name="Text 5"/>
          <p:cNvSpPr/>
          <p:nvPr/>
        </p:nvSpPr>
        <p:spPr>
          <a:xfrm>
            <a:off x="4892040" y="1828800"/>
            <a:ext cx="3200400" cy="1965960"/>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LAD_NN</a:t>
            </a:r>
            <a:endParaRPr lang="en-US" sz="1700" dirty="0"/>
          </a:p>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с подбором гиперпараметров</a:t>
            </a:r>
            <a:endParaRPr lang="en-US" sz="1700" dirty="0"/>
          </a:p>
          <a:p>
            <a:pPr marL="0" indent="0" algn="ctr">
              <a:buNone/>
            </a:pPr>
            <a:endParaRPr lang="en-US" sz="1700" dirty="0"/>
          </a:p>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ROC-AUC = 0,964</a:t>
            </a:r>
            <a:endParaRPr lang="en-US" sz="1700" dirty="0"/>
          </a:p>
        </p:txBody>
      </p:sp>
      <p:sp>
        <p:nvSpPr>
          <p:cNvPr id="8" name="Text 6"/>
          <p:cNvSpPr/>
          <p:nvPr/>
        </p:nvSpPr>
        <p:spPr>
          <a:xfrm>
            <a:off x="1691640" y="4434840"/>
            <a:ext cx="5760720" cy="658368"/>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Наилучший результат: MLP — 0,970</a:t>
            </a:r>
            <a:endParaRPr lang="en-US" sz="1600" dirty="0"/>
          </a:p>
        </p:txBody>
      </p:sp>
      <p:sp>
        <p:nvSpPr>
          <p:cNvPr id="9" name="Text 7"/>
          <p:cNvSpPr/>
          <p:nvPr/>
        </p:nvSpPr>
        <p:spPr>
          <a:xfrm>
            <a:off x="1188720" y="5440680"/>
            <a:ext cx="6766560" cy="365760"/>
          </a:xfrm>
          <a:prstGeom prst="rect">
            <a:avLst/>
          </a:prstGeom>
          <a:noFill/>
          <a:ln/>
        </p:spPr>
        <p:txBody>
          <a:bodyPr wrap="square" lIns="254" tIns="254" rIns="254" bIns="254" rtlCol="0" anchor="ctr"/>
          <a:lstStyle/>
          <a:p>
            <a:pPr marL="0" indent="0" algn="ctr">
              <a:buNone/>
            </a:pPr>
            <a:r>
              <a:rPr lang="en-US" sz="2000" dirty="0">
                <a:solidFill>
                  <a:srgbClr val="000000"/>
                </a:solidFill>
                <a:latin typeface="Times New Roman" pitchFamily="34" charset="0"/>
                <a:ea typeface="Times New Roman" pitchFamily="34" charset="-122"/>
                <a:cs typeface="Times New Roman" pitchFamily="34" charset="-120"/>
              </a:rPr>
              <a:t>Аналогичный показатель для LAD_NN равен 0,964.</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sz="2400" b="1" dirty="0" err="1"/>
              <a:t>Сводные</a:t>
            </a:r>
            <a:r>
              <a:rPr sz="2400" b="1" dirty="0"/>
              <a:t> </a:t>
            </a:r>
            <a:r>
              <a:rPr sz="2400" b="1" dirty="0" err="1"/>
              <a:t>результаты</a:t>
            </a:r>
            <a:endParaRPr lang="en-US" sz="17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516368" y="6519671"/>
            <a:ext cx="1417320" cy="212901"/>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11</a:t>
            </a:r>
            <a:endParaRPr lang="en-US" sz="2400" dirty="0"/>
          </a:p>
        </p:txBody>
      </p:sp>
      <p:sp>
        <p:nvSpPr>
          <p:cNvPr id="5" name="Text 3"/>
          <p:cNvSpPr/>
          <p:nvPr/>
        </p:nvSpPr>
        <p:spPr>
          <a:xfrm>
            <a:off x="909828" y="825072"/>
            <a:ext cx="3794760" cy="91440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Нейросеть</a:t>
            </a:r>
            <a:endParaRPr lang="en-US" sz="1250" dirty="0"/>
          </a:p>
        </p:txBody>
      </p:sp>
      <p:sp>
        <p:nvSpPr>
          <p:cNvPr id="6" name="Text 4"/>
          <p:cNvSpPr/>
          <p:nvPr/>
        </p:nvSpPr>
        <p:spPr>
          <a:xfrm>
            <a:off x="4704588" y="825072"/>
            <a:ext cx="2103120" cy="91440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Формирование признакового пространства</a:t>
            </a:r>
            <a:endParaRPr lang="en-US" sz="1250" dirty="0"/>
          </a:p>
        </p:txBody>
      </p:sp>
      <p:sp>
        <p:nvSpPr>
          <p:cNvPr id="7" name="Text 5"/>
          <p:cNvSpPr/>
          <p:nvPr/>
        </p:nvSpPr>
        <p:spPr>
          <a:xfrm>
            <a:off x="6807708" y="825072"/>
            <a:ext cx="1417320" cy="914400"/>
          </a:xfrm>
          <a:prstGeom prst="rect">
            <a:avLst/>
          </a:prstGeom>
          <a:solidFill>
            <a:srgbClr val="F4F4F4"/>
          </a:solidFill>
          <a:ln w="12700">
            <a:solidFill>
              <a:srgbClr val="C9C9C9"/>
            </a:solidFill>
          </a:ln>
        </p:spPr>
        <p:txBody>
          <a:bodyPr wrap="square" lIns="1016" tIns="1016" rIns="1016" bIns="1016" rtlCol="0" anchor="ctr">
            <a:normAutofit/>
          </a:bodyPr>
          <a:lstStyle/>
          <a:p>
            <a:pPr marL="0" indent="0" algn="ctr">
              <a:buNone/>
            </a:pPr>
            <a:r>
              <a:rPr lang="en-US" sz="1800" b="1" dirty="0">
                <a:solidFill>
                  <a:srgbClr val="000000"/>
                </a:solidFill>
                <a:latin typeface="Times New Roman" pitchFamily="34" charset="0"/>
                <a:ea typeface="Times New Roman" pitchFamily="34" charset="-122"/>
                <a:cs typeface="Times New Roman" pitchFamily="34" charset="-120"/>
              </a:rPr>
              <a:t>ROC-AUC</a:t>
            </a:r>
            <a:endParaRPr lang="en-US" sz="1250" dirty="0"/>
          </a:p>
        </p:txBody>
      </p:sp>
      <p:sp>
        <p:nvSpPr>
          <p:cNvPr id="8" name="Text 6"/>
          <p:cNvSpPr/>
          <p:nvPr/>
        </p:nvSpPr>
        <p:spPr>
          <a:xfrm>
            <a:off x="909828" y="1739472"/>
            <a:ext cx="379476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MLP (базовая)</a:t>
            </a:r>
            <a:endParaRPr lang="en-US" sz="1170" dirty="0"/>
          </a:p>
        </p:txBody>
      </p:sp>
      <p:sp>
        <p:nvSpPr>
          <p:cNvPr id="9" name="Text 7"/>
          <p:cNvSpPr/>
          <p:nvPr/>
        </p:nvSpPr>
        <p:spPr>
          <a:xfrm>
            <a:off x="4704588" y="1739472"/>
            <a:ext cx="21031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способ 1</a:t>
            </a:r>
            <a:endParaRPr lang="en-US" sz="1170" dirty="0"/>
          </a:p>
        </p:txBody>
      </p:sp>
      <p:sp>
        <p:nvSpPr>
          <p:cNvPr id="10" name="Text 8"/>
          <p:cNvSpPr/>
          <p:nvPr/>
        </p:nvSpPr>
        <p:spPr>
          <a:xfrm>
            <a:off x="6807708" y="1739472"/>
            <a:ext cx="14173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0,950</a:t>
            </a:r>
            <a:endParaRPr lang="en-US" sz="1170" dirty="0"/>
          </a:p>
        </p:txBody>
      </p:sp>
      <p:sp>
        <p:nvSpPr>
          <p:cNvPr id="11" name="Text 9"/>
          <p:cNvSpPr/>
          <p:nvPr/>
        </p:nvSpPr>
        <p:spPr>
          <a:xfrm>
            <a:off x="909828" y="2324688"/>
            <a:ext cx="379476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LAD_NN (базовая)</a:t>
            </a:r>
            <a:endParaRPr lang="en-US" sz="1170" dirty="0"/>
          </a:p>
        </p:txBody>
      </p:sp>
      <p:sp>
        <p:nvSpPr>
          <p:cNvPr id="12" name="Text 10"/>
          <p:cNvSpPr/>
          <p:nvPr/>
        </p:nvSpPr>
        <p:spPr>
          <a:xfrm>
            <a:off x="4704588" y="2324688"/>
            <a:ext cx="21031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способ 1</a:t>
            </a:r>
            <a:endParaRPr lang="en-US" sz="1170" dirty="0"/>
          </a:p>
        </p:txBody>
      </p:sp>
      <p:sp>
        <p:nvSpPr>
          <p:cNvPr id="13" name="Text 11"/>
          <p:cNvSpPr/>
          <p:nvPr/>
        </p:nvSpPr>
        <p:spPr>
          <a:xfrm>
            <a:off x="6807708" y="2324688"/>
            <a:ext cx="14173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0,857</a:t>
            </a:r>
            <a:endParaRPr lang="en-US" sz="1170" dirty="0"/>
          </a:p>
        </p:txBody>
      </p:sp>
      <p:sp>
        <p:nvSpPr>
          <p:cNvPr id="14" name="Text 12"/>
          <p:cNvSpPr/>
          <p:nvPr/>
        </p:nvSpPr>
        <p:spPr>
          <a:xfrm>
            <a:off x="909828" y="2909904"/>
            <a:ext cx="379476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MLP (с подбором гиперпараметров)</a:t>
            </a:r>
            <a:endParaRPr lang="en-US" sz="1170" dirty="0"/>
          </a:p>
        </p:txBody>
      </p:sp>
      <p:sp>
        <p:nvSpPr>
          <p:cNvPr id="15" name="Text 13"/>
          <p:cNvSpPr/>
          <p:nvPr/>
        </p:nvSpPr>
        <p:spPr>
          <a:xfrm>
            <a:off x="4704588" y="2909904"/>
            <a:ext cx="21031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способ 1</a:t>
            </a:r>
            <a:endParaRPr lang="en-US" sz="1170" dirty="0"/>
          </a:p>
        </p:txBody>
      </p:sp>
      <p:sp>
        <p:nvSpPr>
          <p:cNvPr id="16" name="Text 14"/>
          <p:cNvSpPr/>
          <p:nvPr/>
        </p:nvSpPr>
        <p:spPr>
          <a:xfrm>
            <a:off x="6807708" y="2909904"/>
            <a:ext cx="14173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0,963</a:t>
            </a:r>
            <a:endParaRPr lang="en-US" sz="1170" dirty="0"/>
          </a:p>
        </p:txBody>
      </p:sp>
      <p:sp>
        <p:nvSpPr>
          <p:cNvPr id="17" name="Text 15"/>
          <p:cNvSpPr/>
          <p:nvPr/>
        </p:nvSpPr>
        <p:spPr>
          <a:xfrm>
            <a:off x="909828" y="3495120"/>
            <a:ext cx="379476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LAD_NN (с подбором гиперпараметров)</a:t>
            </a:r>
            <a:endParaRPr lang="en-US" sz="1170" dirty="0"/>
          </a:p>
        </p:txBody>
      </p:sp>
      <p:sp>
        <p:nvSpPr>
          <p:cNvPr id="18" name="Text 16"/>
          <p:cNvSpPr/>
          <p:nvPr/>
        </p:nvSpPr>
        <p:spPr>
          <a:xfrm>
            <a:off x="4704588" y="3495120"/>
            <a:ext cx="21031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способ 1</a:t>
            </a:r>
            <a:endParaRPr lang="en-US" sz="1170" dirty="0"/>
          </a:p>
        </p:txBody>
      </p:sp>
      <p:sp>
        <p:nvSpPr>
          <p:cNvPr id="19" name="Text 17"/>
          <p:cNvSpPr/>
          <p:nvPr/>
        </p:nvSpPr>
        <p:spPr>
          <a:xfrm>
            <a:off x="6807708" y="3495120"/>
            <a:ext cx="14173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0,910</a:t>
            </a:r>
            <a:endParaRPr lang="en-US" sz="1170" dirty="0"/>
          </a:p>
        </p:txBody>
      </p:sp>
      <p:sp>
        <p:nvSpPr>
          <p:cNvPr id="20" name="Text 18"/>
          <p:cNvSpPr/>
          <p:nvPr/>
        </p:nvSpPr>
        <p:spPr>
          <a:xfrm>
            <a:off x="909828" y="4080336"/>
            <a:ext cx="379476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MLP (с подбором гиперпараметров)</a:t>
            </a:r>
            <a:endParaRPr lang="en-US" sz="1170" dirty="0"/>
          </a:p>
        </p:txBody>
      </p:sp>
      <p:sp>
        <p:nvSpPr>
          <p:cNvPr id="21" name="Text 19"/>
          <p:cNvSpPr/>
          <p:nvPr/>
        </p:nvSpPr>
        <p:spPr>
          <a:xfrm>
            <a:off x="4704588" y="4080336"/>
            <a:ext cx="21031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способ 2</a:t>
            </a:r>
            <a:endParaRPr lang="en-US" sz="1170" dirty="0"/>
          </a:p>
        </p:txBody>
      </p:sp>
      <p:sp>
        <p:nvSpPr>
          <p:cNvPr id="22" name="Text 20"/>
          <p:cNvSpPr/>
          <p:nvPr/>
        </p:nvSpPr>
        <p:spPr>
          <a:xfrm>
            <a:off x="6807708" y="4080336"/>
            <a:ext cx="1417320" cy="585216"/>
          </a:xfrm>
          <a:prstGeom prst="rect">
            <a:avLst/>
          </a:prstGeom>
          <a:solidFill>
            <a:srgbClr val="DDEBF7"/>
          </a:solidFill>
          <a:ln w="12700">
            <a:solidFill>
              <a:srgbClr val="5B9BD5"/>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0,970</a:t>
            </a:r>
            <a:endParaRPr lang="en-US" sz="1170" dirty="0"/>
          </a:p>
        </p:txBody>
      </p:sp>
      <p:sp>
        <p:nvSpPr>
          <p:cNvPr id="23" name="Text 21"/>
          <p:cNvSpPr/>
          <p:nvPr/>
        </p:nvSpPr>
        <p:spPr>
          <a:xfrm>
            <a:off x="909828" y="4665552"/>
            <a:ext cx="379476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LAD_NN (с подбором гиперпараметров)</a:t>
            </a:r>
            <a:endParaRPr lang="en-US" sz="1170" dirty="0"/>
          </a:p>
        </p:txBody>
      </p:sp>
      <p:sp>
        <p:nvSpPr>
          <p:cNvPr id="24" name="Text 22"/>
          <p:cNvSpPr/>
          <p:nvPr/>
        </p:nvSpPr>
        <p:spPr>
          <a:xfrm>
            <a:off x="4704588" y="4665552"/>
            <a:ext cx="2103120" cy="585216"/>
          </a:xfrm>
          <a:prstGeom prst="rect">
            <a:avLst/>
          </a:prstGeom>
          <a:solidFill>
            <a:srgbClr val="FFFFFF"/>
          </a:solidFill>
          <a:ln w="12700">
            <a:solidFill>
              <a:srgbClr val="C9C9C9"/>
            </a:solidFill>
          </a:ln>
        </p:spPr>
        <p:txBody>
          <a:bodyPr wrap="square" lIns="1016" tIns="1016" rIns="1016" bIns="1016" rtlCol="0" anchor="ctr">
            <a:normAutofit/>
          </a:bodyP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способ 2</a:t>
            </a:r>
            <a:endParaRPr lang="en-US" sz="1170" dirty="0"/>
          </a:p>
        </p:txBody>
      </p:sp>
      <p:sp>
        <p:nvSpPr>
          <p:cNvPr id="25" name="Text 23"/>
          <p:cNvSpPr/>
          <p:nvPr/>
        </p:nvSpPr>
        <p:spPr>
          <a:xfrm>
            <a:off x="6807708" y="4665552"/>
            <a:ext cx="1417320" cy="585216"/>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0,964</a:t>
            </a:r>
            <a:endParaRPr lang="en-US" sz="1170" dirty="0"/>
          </a:p>
        </p:txBody>
      </p:sp>
      <p:sp>
        <p:nvSpPr>
          <p:cNvPr id="26" name="Low cardinality conclusion"/>
          <p:cNvSpPr/>
          <p:nvPr/>
        </p:nvSpPr>
        <p:spPr>
          <a:xfrm>
            <a:off x="914400" y="5471778"/>
            <a:ext cx="7315200" cy="548640"/>
          </a:xfrm>
          <a:prstGeom prst="rect">
            <a:avLst/>
          </a:prstGeom>
          <a:noFill/>
          <a:ln/>
        </p:spPr>
        <p:txBody>
          <a:bodyPr wrap="square" lIns="254" tIns="254" rIns="254" bIns="254" rtlCol="0" anchor="ctr">
            <a:noAutofit/>
          </a:bodyPr>
          <a:lstStyle/>
          <a:p>
            <a:pPr marL="0" indent="0" algn="ctr">
              <a:buNone/>
            </a:pPr>
            <a:r>
              <a:rPr sz="2000" b="1" dirty="0" err="1"/>
              <a:t>Логическая</a:t>
            </a:r>
            <a:r>
              <a:rPr sz="2000" b="1" dirty="0"/>
              <a:t> </a:t>
            </a:r>
            <a:r>
              <a:rPr sz="2000" b="1" dirty="0" err="1"/>
              <a:t>нейросеть</a:t>
            </a:r>
            <a:r>
              <a:rPr sz="2000" b="1" dirty="0"/>
              <a:t> </a:t>
            </a:r>
            <a:r>
              <a:rPr sz="2000" b="1" dirty="0" err="1"/>
              <a:t>так</a:t>
            </a:r>
            <a:r>
              <a:rPr sz="2000" b="1" dirty="0"/>
              <a:t> </a:t>
            </a:r>
            <a:r>
              <a:rPr sz="2000" b="1" dirty="0" err="1"/>
              <a:t>же</a:t>
            </a:r>
            <a:r>
              <a:rPr sz="2000" b="1" dirty="0"/>
              <a:t>, </a:t>
            </a:r>
            <a:r>
              <a:rPr sz="2000" b="1" dirty="0" err="1"/>
              <a:t>как</a:t>
            </a:r>
            <a:r>
              <a:rPr sz="2000" b="1" dirty="0"/>
              <a:t> </a:t>
            </a:r>
            <a:r>
              <a:rPr sz="2000" b="1" dirty="0" err="1"/>
              <a:t>и</a:t>
            </a:r>
            <a:r>
              <a:rPr sz="2000" b="1" dirty="0"/>
              <a:t> </a:t>
            </a:r>
            <a:r>
              <a:rPr sz="2000" b="1" dirty="0" err="1"/>
              <a:t>классические</a:t>
            </a:r>
            <a:r>
              <a:rPr sz="2000" b="1" dirty="0"/>
              <a:t> </a:t>
            </a:r>
            <a:r>
              <a:rPr sz="2000" b="1" dirty="0" err="1"/>
              <a:t>логические</a:t>
            </a:r>
            <a:r>
              <a:rPr sz="2000" b="1" dirty="0"/>
              <a:t> </a:t>
            </a:r>
            <a:r>
              <a:rPr sz="2000" b="1" dirty="0" err="1"/>
              <a:t>классификаторы</a:t>
            </a:r>
            <a:r>
              <a:rPr sz="2000" b="1" dirty="0"/>
              <a:t>, </a:t>
            </a:r>
            <a:r>
              <a:rPr sz="2000" b="1" dirty="0" err="1"/>
              <a:t>показывает</a:t>
            </a:r>
            <a:r>
              <a:rPr sz="2000" b="1" dirty="0"/>
              <a:t> </a:t>
            </a:r>
            <a:r>
              <a:rPr sz="2000" b="1" dirty="0" err="1"/>
              <a:t>более</a:t>
            </a:r>
            <a:r>
              <a:rPr sz="2000" b="1" dirty="0"/>
              <a:t> </a:t>
            </a:r>
            <a:r>
              <a:rPr sz="2000" b="1" dirty="0" err="1"/>
              <a:t>высокое</a:t>
            </a:r>
            <a:r>
              <a:rPr sz="2000" b="1" dirty="0"/>
              <a:t> </a:t>
            </a:r>
            <a:r>
              <a:rPr sz="2000" b="1" dirty="0" err="1"/>
              <a:t>качество</a:t>
            </a:r>
            <a:r>
              <a:rPr sz="2000" b="1" dirty="0"/>
              <a:t>, </a:t>
            </a:r>
            <a:r>
              <a:rPr sz="2000" b="1" dirty="0" err="1"/>
              <a:t>когда</a:t>
            </a:r>
            <a:r>
              <a:rPr sz="2000" b="1" dirty="0"/>
              <a:t> </a:t>
            </a:r>
            <a:r>
              <a:rPr sz="2000" b="1" dirty="0" err="1"/>
              <a:t>признаки</a:t>
            </a:r>
            <a:r>
              <a:rPr sz="2000" b="1" dirty="0"/>
              <a:t> </a:t>
            </a:r>
            <a:r>
              <a:rPr sz="2000" b="1" dirty="0" err="1"/>
              <a:t>имеют</a:t>
            </a:r>
            <a:r>
              <a:rPr sz="2000" b="1" dirty="0"/>
              <a:t> </a:t>
            </a:r>
            <a:r>
              <a:rPr sz="2000" b="1" dirty="0" err="1"/>
              <a:t>низкую</a:t>
            </a:r>
            <a:r>
              <a:rPr sz="2000" b="1" dirty="0"/>
              <a:t> </a:t>
            </a:r>
            <a:r>
              <a:rPr sz="2000" b="1" dirty="0" err="1"/>
              <a:t>значность</a:t>
            </a:r>
            <a:r>
              <a:rPr sz="2000" b="1" dirty="0"/>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320040"/>
            <a:ext cx="7955280" cy="384048"/>
          </a:xfrm>
          <a:prstGeom prst="rect">
            <a:avLst/>
          </a:prstGeom>
          <a:noFill/>
          <a:ln/>
        </p:spPr>
        <p:txBody>
          <a:bodyPr wrap="square" lIns="254" tIns="254" rIns="254" bIns="254" rtlCol="0" anchor="ctr">
            <a:normAutofit/>
          </a:bodyP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Заключение</a:t>
            </a:r>
            <a:endParaRPr lang="en-US" sz="1700" dirty="0"/>
          </a:p>
        </p:txBody>
      </p:sp>
      <p:sp>
        <p:nvSpPr>
          <p:cNvPr id="3" name="Text 1"/>
          <p:cNvSpPr/>
          <p:nvPr/>
        </p:nvSpPr>
        <p:spPr>
          <a:xfrm>
            <a:off x="502920" y="6519672"/>
            <a:ext cx="5120640" cy="146304"/>
          </a:xfrm>
          <a:prstGeom prst="rect">
            <a:avLst/>
          </a:prstGeom>
          <a:noFill/>
          <a:ln/>
        </p:spPr>
        <p:txBody>
          <a:bodyPr wrap="square" lIns="0" tIns="0" rIns="0" bIns="0" rtlCol="0" anchor="ctr"/>
          <a:lstStyle/>
          <a:p>
            <a:pPr marL="0" indent="0">
              <a:buNone/>
            </a:pPr>
            <a:r>
              <a:rPr lang="en-US" sz="800" dirty="0">
                <a:solidFill>
                  <a:srgbClr val="666666"/>
                </a:solidFill>
                <a:latin typeface="Times New Roman" pitchFamily="34" charset="0"/>
                <a:ea typeface="Times New Roman" pitchFamily="34" charset="-122"/>
                <a:cs typeface="Times New Roman" pitchFamily="34" charset="-120"/>
              </a:rPr>
              <a:t>Методы глубокого обучения и актуальные задачи биоинформатики</a:t>
            </a:r>
            <a:endParaRPr lang="en-US" sz="530" dirty="0"/>
          </a:p>
        </p:txBody>
      </p:sp>
      <p:sp>
        <p:nvSpPr>
          <p:cNvPr id="4" name="Text 2"/>
          <p:cNvSpPr/>
          <p:nvPr/>
        </p:nvSpPr>
        <p:spPr>
          <a:xfrm>
            <a:off x="7711710" y="6519672"/>
            <a:ext cx="1221978" cy="146304"/>
          </a:xfrm>
          <a:prstGeom prst="rect">
            <a:avLst/>
          </a:prstGeom>
          <a:noFill/>
          <a:ln/>
        </p:spPr>
        <p:txBody>
          <a:bodyPr wrap="square" lIns="0" tIns="0" rIns="0" bIns="0" rtlCol="0" anchor="ctr"/>
          <a:lstStyle/>
          <a:p>
            <a:pPr marL="0" indent="0" algn="r">
              <a:buNone/>
            </a:pPr>
            <a:r>
              <a:rPr lang="en-US" sz="2400" dirty="0">
                <a:solidFill>
                  <a:srgbClr val="666666"/>
                </a:solidFill>
                <a:latin typeface="Times New Roman" pitchFamily="34" charset="0"/>
                <a:ea typeface="Times New Roman" pitchFamily="34" charset="-122"/>
                <a:cs typeface="Times New Roman" pitchFamily="34" charset="-120"/>
              </a:rPr>
              <a:t>Слайд 12</a:t>
            </a:r>
            <a:endParaRPr lang="en-US" sz="2400" dirty="0"/>
          </a:p>
        </p:txBody>
      </p:sp>
      <p:sp>
        <p:nvSpPr>
          <p:cNvPr id="5" name="Text 3"/>
          <p:cNvSpPr/>
          <p:nvPr/>
        </p:nvSpPr>
        <p:spPr>
          <a:xfrm>
            <a:off x="868680" y="1414305"/>
            <a:ext cx="7406640" cy="1554480"/>
          </a:xfrm>
          <a:prstGeom prst="rect">
            <a:avLst/>
          </a:prstGeom>
          <a:noFill/>
          <a:ln/>
        </p:spPr>
        <p:txBody>
          <a:bodyPr wrap="square" lIns="762" tIns="762" rIns="762" bIns="762" rtlCol="0" anchor="t">
            <a:noAutofit/>
          </a:bodyPr>
          <a:lstStyle/>
          <a:p>
            <a:r>
              <a:rPr sz="2400" dirty="0"/>
              <a:t>• </a:t>
            </a:r>
            <a:r>
              <a:rPr sz="2400" dirty="0" err="1"/>
              <a:t>Прямое</a:t>
            </a:r>
            <a:r>
              <a:rPr sz="2400" dirty="0"/>
              <a:t> </a:t>
            </a:r>
            <a:r>
              <a:rPr sz="2400" dirty="0" err="1"/>
              <a:t>применение</a:t>
            </a:r>
            <a:r>
              <a:rPr sz="2400" dirty="0"/>
              <a:t> </a:t>
            </a:r>
            <a:r>
              <a:rPr sz="2400" dirty="0" err="1"/>
              <a:t>к</a:t>
            </a:r>
            <a:r>
              <a:rPr sz="2400" dirty="0"/>
              <a:t> </a:t>
            </a:r>
            <a:r>
              <a:rPr sz="2400" dirty="0" err="1"/>
              <a:t>исходной</a:t>
            </a:r>
            <a:r>
              <a:rPr sz="2400" dirty="0"/>
              <a:t> </a:t>
            </a:r>
            <a:r>
              <a:rPr sz="2400" dirty="0" err="1"/>
              <a:t>выборке</a:t>
            </a:r>
            <a:r>
              <a:rPr sz="2400" dirty="0"/>
              <a:t> </a:t>
            </a:r>
            <a:r>
              <a:rPr sz="2400" dirty="0" err="1"/>
              <a:t>дает</a:t>
            </a:r>
            <a:r>
              <a:rPr sz="2400" dirty="0"/>
              <a:t> </a:t>
            </a:r>
            <a:r>
              <a:rPr sz="2400" dirty="0" err="1"/>
              <a:t>лучшие</a:t>
            </a:r>
            <a:r>
              <a:rPr sz="2400" dirty="0"/>
              <a:t> </a:t>
            </a:r>
            <a:r>
              <a:rPr sz="2400" dirty="0" err="1"/>
              <a:t>результаты</a:t>
            </a:r>
            <a:r>
              <a:rPr sz="2400" dirty="0"/>
              <a:t> </a:t>
            </a:r>
            <a:r>
              <a:rPr sz="2400" dirty="0" err="1"/>
              <a:t>для</a:t>
            </a:r>
            <a:r>
              <a:rPr sz="2400" dirty="0"/>
              <a:t> </a:t>
            </a:r>
            <a:r>
              <a:rPr sz="2400" dirty="0" err="1"/>
              <a:t>обеих</a:t>
            </a:r>
            <a:r>
              <a:rPr sz="2400" dirty="0"/>
              <a:t> </a:t>
            </a:r>
            <a:r>
              <a:rPr sz="2400" dirty="0" err="1"/>
              <a:t>нейросетей</a:t>
            </a:r>
            <a:r>
              <a:rPr sz="2400" dirty="0"/>
              <a:t>.
• </a:t>
            </a:r>
            <a:r>
              <a:rPr sz="2400" dirty="0" err="1"/>
              <a:t>Подбор</a:t>
            </a:r>
            <a:r>
              <a:rPr sz="2400" dirty="0"/>
              <a:t> </a:t>
            </a:r>
            <a:r>
              <a:rPr sz="2400" dirty="0" err="1"/>
              <a:t>гиперпараметров</a:t>
            </a:r>
            <a:r>
              <a:rPr sz="2400" dirty="0"/>
              <a:t> </a:t>
            </a:r>
            <a:r>
              <a:rPr sz="2400" dirty="0" err="1"/>
              <a:t>повышает</a:t>
            </a:r>
            <a:r>
              <a:rPr sz="2400" dirty="0"/>
              <a:t> </a:t>
            </a:r>
            <a:r>
              <a:rPr sz="2400" dirty="0" err="1"/>
              <a:t>качество</a:t>
            </a:r>
            <a:r>
              <a:rPr sz="2400" dirty="0"/>
              <a:t> MLP </a:t>
            </a:r>
            <a:r>
              <a:rPr sz="2400" dirty="0" err="1"/>
              <a:t>и</a:t>
            </a:r>
            <a:r>
              <a:rPr sz="2400" dirty="0"/>
              <a:t> LAD_NN.
• LAD_NN </a:t>
            </a:r>
            <a:r>
              <a:rPr sz="2400" dirty="0" err="1"/>
              <a:t>сохраняет</a:t>
            </a:r>
            <a:r>
              <a:rPr sz="2400" dirty="0"/>
              <a:t> </a:t>
            </a:r>
            <a:r>
              <a:rPr sz="2400" dirty="0" err="1"/>
              <a:t>связь</a:t>
            </a:r>
            <a:r>
              <a:rPr sz="2400" dirty="0"/>
              <a:t> </a:t>
            </a:r>
            <a:r>
              <a:rPr sz="2400" dirty="0" err="1"/>
              <a:t>с</a:t>
            </a:r>
            <a:r>
              <a:rPr sz="2400" dirty="0"/>
              <a:t> </a:t>
            </a:r>
            <a:r>
              <a:rPr sz="2400" dirty="0" err="1"/>
              <a:t>логическим</a:t>
            </a:r>
            <a:r>
              <a:rPr sz="2400" dirty="0"/>
              <a:t> </a:t>
            </a:r>
            <a:r>
              <a:rPr sz="2400" dirty="0" err="1"/>
              <a:t>подходом</a:t>
            </a:r>
            <a:r>
              <a:rPr sz="2400" dirty="0"/>
              <a:t> </a:t>
            </a:r>
            <a:r>
              <a:rPr sz="2400" dirty="0" err="1"/>
              <a:t>и</a:t>
            </a:r>
            <a:r>
              <a:rPr sz="2400" dirty="0"/>
              <a:t> </a:t>
            </a:r>
            <a:r>
              <a:rPr sz="2400" dirty="0" err="1"/>
              <a:t>показывает</a:t>
            </a:r>
            <a:r>
              <a:rPr sz="2400" dirty="0"/>
              <a:t> </a:t>
            </a:r>
            <a:r>
              <a:rPr sz="2400" dirty="0" err="1"/>
              <a:t>качество</a:t>
            </a:r>
            <a:r>
              <a:rPr sz="2400" dirty="0"/>
              <a:t>, </a:t>
            </a:r>
            <a:r>
              <a:rPr sz="2400" dirty="0" err="1"/>
              <a:t>сопоставимое</a:t>
            </a:r>
            <a:r>
              <a:rPr sz="2400" dirty="0"/>
              <a:t> </a:t>
            </a:r>
            <a:r>
              <a:rPr sz="2400" dirty="0" err="1"/>
              <a:t>с</a:t>
            </a:r>
            <a:r>
              <a:rPr sz="2400" dirty="0"/>
              <a:t> MLP.</a:t>
            </a:r>
            <a:endParaRPr lang="en-US" sz="2400" dirty="0"/>
          </a:p>
          <a:p>
            <a:endParaRPr lang="en-US" sz="2400" dirty="0"/>
          </a:p>
          <a:p>
            <a:endParaRPr lang="en-US" sz="2400" dirty="0"/>
          </a:p>
        </p:txBody>
      </p:sp>
      <p:sp>
        <p:nvSpPr>
          <p:cNvPr id="6" name="Text 4"/>
          <p:cNvSpPr/>
          <p:nvPr/>
        </p:nvSpPr>
        <p:spPr>
          <a:xfrm>
            <a:off x="1234440" y="4846320"/>
            <a:ext cx="6675120" cy="713232"/>
          </a:xfrm>
          <a:prstGeom prst="rect">
            <a:avLst/>
          </a:prstGeom>
          <a:solidFill>
            <a:srgbClr val="E2F0D9"/>
          </a:solidFill>
          <a:ln w="12700">
            <a:solidFill>
              <a:srgbClr val="70AD47"/>
            </a:solidFill>
          </a:ln>
        </p:spPr>
        <p:txBody>
          <a:bodyPr wrap="square" lIns="1016" tIns="1016" rIns="1016" bIns="1016" rtlCol="0" anchor="ctr">
            <a:norm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Перспективное направление для дальнейших исследований в задачах биоинформатики</a:t>
            </a:r>
            <a:endParaRPr lang="en-US" sz="1450" dirty="0"/>
          </a:p>
        </p:txBody>
      </p:sp>
      <p:sp>
        <p:nvSpPr>
          <p:cNvPr id="7" name="Text 5"/>
          <p:cNvSpPr/>
          <p:nvPr/>
        </p:nvSpPr>
        <p:spPr>
          <a:xfrm>
            <a:off x="2834640" y="5577840"/>
            <a:ext cx="3474720" cy="320040"/>
          </a:xfrm>
          <a:prstGeom prst="rect">
            <a:avLst/>
          </a:prstGeom>
          <a:noFill/>
          <a:ln/>
        </p:spPr>
        <p:txBody>
          <a:bodyPr wrap="square" lIns="254" tIns="254" rIns="254" bIns="254"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Благодарю за внимание</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1672</Words>
  <Application>Microsoft Macintosh PowerPoint</Application>
  <PresentationFormat>Экран (4:3)</PresentationFormat>
  <Paragraphs>174</Paragraphs>
  <Slides>12</Slides>
  <Notes>12</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12</vt:i4>
      </vt:variant>
    </vt:vector>
  </HeadingPairs>
  <TitlesOfParts>
    <vt:vector size="15" baseType="lpstr">
      <vt:lpstr>Arial</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Методы глубокого обучения и актуальные задачи биоинформатики</dc:title>
  <dc:subject>ИОИ-2026</dc:subject>
  <dc:creator>OpenAI</dc:creator>
  <cp:lastModifiedBy>Иван Пестов</cp:lastModifiedBy>
  <cp:revision>4</cp:revision>
  <dcterms:created xsi:type="dcterms:W3CDTF">2026-09-16T14:11:29Z</dcterms:created>
  <dcterms:modified xsi:type="dcterms:W3CDTF">2026-09-29T10:25:46Z</dcterms:modified>
</cp:coreProperties>
</file>